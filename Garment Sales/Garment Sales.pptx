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FeatMotion" Type="http://schemas.featpaper.com/relationships/motion" Target="feat-data/motion.xml"/><Relationship Id="rId2" Type="http://schemas.openxmlformats.org/officeDocument/2006/relationships/officeDocument" Target="ppt/presentation.xml"/><Relationship Id="rIdFeatPsNames" Type="http://schemas.featpaper.com/relationships/psNames" Target="feat-data/psNames.xml"/><Relationship Id="rId1" Type="http://schemas.microsoft.com/office/2011/relationships/webextensiontaskpanes" Target="ppt/webextensions/taskpanes.xml"/><Relationship Id="rIdFeatFlattenedVisuals" Type="http://schemas.featpaper.com/relationships/flattenedVisuals" Target="feat-data/flattenedVisual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24384000" cy="13716000"/>
  <p:notesSz cx="13716000" cy="24384000"/>
  <p:embeddedFontLst>
    <p:embeddedFont>
      <p:font typeface="Calibri" panose="020F0502020204030204" pitchFamily="34" charset="0"/>
      <p:regular r:id="rId14"/>
      <p:bold r:id="rId15"/>
      <p:italic r:id="rId16"/>
      <p:boldItalic r:id="rId17"/>
    </p:embeddedFont>
    <p:embeddedFont>
      <p:font typeface="Inter" panose="020B0604020202020204" charset="0"/>
      <p:regular r:id="rId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37" d="100"/>
          <a:sy n="37" d="100"/>
        </p:scale>
        <p:origin x="125" y="3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ableStyles" Target="tableStyles.xml"/></Relationships>
</file>

<file path=ppt/feat-data/page-layouts/page-layout-0f5438f6-6ecd-46d4-8eb8-65af222ffc2a.xml><?xml version="1.0" encoding="utf-8"?>
<featPageLayout xmlns="http://schemas.featpaper.com/pptx/page-layout" version="1" width="1920" height="1080" source="figma" sourceId="1:29" name="1" exportedIndex="0" deckWidth="1920" deckHeight="1080"/>
</file>

<file path=ppt/feat-data/page-layouts/page-layout-3c44a109-23b9-4ba7-9ed3-0cc448dd581d.xml><?xml version="1.0" encoding="utf-8"?>
<featPageLayout xmlns="http://schemas.featpaper.com/pptx/page-layout" version="1" width="1920" height="1080" source="figma" sourceId="3:21" name="5" exportedIndex="4" deckWidth="1920" deckHeight="1080"/>
</file>

<file path=ppt/feat-data/page-layouts/page-layout-39ec9f9f-46c3-443b-8a9a-b1762f76e930.xml><?xml version="1.0" encoding="utf-8"?>
<featPageLayout xmlns="http://schemas.featpaper.com/pptx/page-layout" version="1" width="1920" height="1080" source="figma" sourceId="12:149" name="8" exportedIndex="7" deckWidth="1920" deckHeight="1080"/>
</file>

<file path=ppt/feat-data/page-layouts/page-layout-63f9b537-1462-4b63-9406-fbe0f9cc5129.xml><?xml version="1.0" encoding="utf-8"?>
<featPageLayout xmlns="http://schemas.featpaper.com/pptx/page-layout" version="1" width="1920" height="1080" source="figma" sourceId="3:51" name="7" exportedIndex="6" deckWidth="1920" deckHeight="1080"/>
</file>

<file path=ppt/feat-data/page-layouts/page-layout-64e1306b-d501-4b17-a97d-b760de052fa7.xml><?xml version="1.0" encoding="utf-8"?>
<featPageLayout xmlns="http://schemas.featpaper.com/pptx/page-layout" version="1" width="1920" height="1080" source="figma" sourceId="3:6" name="4" exportedIndex="3" deckWidth="1920" deckHeight="1080"/>
</file>

<file path=ppt/feat-data/page-layouts/page-layout-81bdc60c-c998-43f5-918b-56d7196d745b.xml><?xml version="1.0" encoding="utf-8"?>
<featPageLayout xmlns="http://schemas.featpaper.com/pptx/page-layout" version="1" width="1920" height="1080" source="figma" sourceId="14:323" name="11" exportedIndex="10" deckWidth="1920" deckHeight="1080"/>
</file>

<file path=ppt/feat-data/page-layouts/page-layout-670cfd04-7994-4d7c-8968-53a91b571ce3.xml><?xml version="1.0" encoding="utf-8"?>
<featPageLayout xmlns="http://schemas.featpaper.com/pptx/page-layout" version="1" width="1920" height="1080" source="figma" sourceId="1:82" name="3" exportedIndex="2" deckWidth="1920" deckHeight="1080"/>
</file>

<file path=ppt/feat-data/page-layouts/page-layout-4895a190-4b40-4b77-a6d6-4378dccfa152.xml><?xml version="1.0" encoding="utf-8"?>
<featPageLayout xmlns="http://schemas.featpaper.com/pptx/page-layout" version="1" width="1920" height="1080" source="figma" sourceId="1:66" name="2" exportedIndex="1" deckWidth="1920" deckHeight="1080"/>
</file>

<file path=ppt/feat-data/page-layouts/page-layout-6520b2a2-b5d6-4b62-92f6-e7d357104654.xml><?xml version="1.0" encoding="utf-8"?>
<featPageLayout xmlns="http://schemas.featpaper.com/pptx/page-layout" version="1" width="1920" height="1080" source="figma" sourceId="3:36" name="6" exportedIndex="5" deckWidth="1920" deckHeight="1080"/>
</file>

<file path=ppt/feat-data/page-layouts/page-layout-dc0583e1-7bbd-4969-a055-a20ab1ba3202.xml><?xml version="1.0" encoding="utf-8"?>
<featPageLayout xmlns="http://schemas.featpaper.com/pptx/page-layout" version="1" width="1920" height="1080" source="figma" sourceId="7:95" name="9" exportedIndex="8" deckWidth="1920" deckHeight="1080"/>
</file>

<file path=ppt/feat-data/page-layouts/page-layout-ee656f08-415b-477b-bbb9-19398cfd7342.xml><?xml version="1.0" encoding="utf-8"?>
<featPageLayout xmlns="http://schemas.featpaper.com/pptx/page-layout" version="1" width="1920" height="1080" source="figma" sourceId="13:235" name="10" exportedIndex="9" deckWidth="1920" deckHeight="1080"/>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31557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FeatPageLayout" Type="http://schemas.featpaper.com/relationships/page-layout" Target="../feat-data/page-layouts/page-layout-0f5438f6-6ecd-46d4-8eb8-65af222ffc2a.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FeatPageLayout" Type="http://schemas.featpaper.com/relationships/page-layout" Target="../feat-data/page-layouts/page-layout-4895a190-4b40-4b77-a6d6-4378dccfa15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FeatPageLayout" Type="http://schemas.featpaper.com/relationships/page-layout" Target="../feat-data/page-layouts/page-layout-670cfd04-7994-4d7c-8968-53a91b571ce3.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FeatPageLayout" Type="http://schemas.featpaper.com/relationships/page-layout" Target="../feat-data/page-layouts/page-layout-64e1306b-d501-4b17-a97d-b760de052fa7.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FeatPageLayout" Type="http://schemas.featpaper.com/relationships/page-layout" Target="../feat-data/page-layouts/page-layout-3c44a109-23b9-4ba7-9ed3-0cc448dd581d.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FeatPageLayout" Type="http://schemas.featpaper.com/relationships/page-layout" Target="../feat-data/page-layouts/page-layout-6520b2a2-b5d6-4b62-92f6-e7d357104654.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FeatPageLayout" Type="http://schemas.featpaper.com/relationships/page-layout" Target="../feat-data/page-layouts/page-layout-63f9b537-1462-4b63-9406-fbe0f9cc5129.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0.png"/><Relationship Id="rIdFeatPageLayout" Type="http://schemas.featpaper.com/relationships/page-layout" Target="../feat-data/page-layouts/page-layout-39ec9f9f-46c3-443b-8a9a-b1762f76e930.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FeatPageLayout" Type="http://schemas.featpaper.com/relationships/page-layout" Target="../feat-data/page-layouts/page-layout-dc0583e1-7bbd-4969-a055-a20ab1ba320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9.png"/><Relationship Id="rIdFeatPageLayout" Type="http://schemas.featpaper.com/relationships/page-layout" Target="../feat-data/page-layouts/page-layout-ee656f08-415b-477b-bbb9-19398cfd7342.xml"/><Relationship Id="rId4" Type="http://schemas.openxmlformats.org/officeDocument/2006/relationships/image" Target="../media/image13.png"/><Relationship Id="rId9"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1.png"/><Relationship Id="rIdFeatPageLayout" Type="http://schemas.featpaper.com/relationships/page-layout" Target="../feat-data/page-layouts/page-layout-81bdc60c-c998-43f5-918b-56d7196d745b.xml"/><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D94D28"/>
        </a:solidFill>
        <a:effectLst/>
      </p:bgPr>
    </p:bg>
    <p:spTree>
      <p:nvGrpSpPr>
        <p:cNvPr id="1" name=""/>
        <p:cNvGrpSpPr/>
        <p:nvPr/>
      </p:nvGrpSpPr>
      <p:grpSpPr>
        <a:xfrm>
          <a:off x="0" y="0"/>
          <a:ext cx="0" cy="0"/>
          <a:chOff x="0" y="0"/>
          <a:chExt cx="0" cy="0"/>
        </a:xfrm>
      </p:grpSpPr>
      <p:pic>
        <p:nvPicPr>
          <p:cNvPr id="2" name="featpaper-node:1:29" descr="1"/>
          <p:cNvPicPr>
            <a:picLocks noChangeAspect="1"/>
          </p:cNvPicPr>
          <p:nvPr/>
        </p:nvPicPr>
        <p:blipFill>
          <a:blip r:embed="rId3"/>
          <a:stretch>
            <a:fillRect/>
          </a:stretch>
        </p:blipFill>
        <p:spPr>
          <a:xfrm>
            <a:off x="0" y="0"/>
            <a:ext cx="24384000" cy="13716000"/>
          </a:xfrm>
          <a:prstGeom prst="rect">
            <a:avLst/>
          </a:prstGeom>
        </p:spPr>
      </p:pic>
      <p:pic>
        <p:nvPicPr>
          <p:cNvPr id="3" name="featpaper-node:1:30" descr="Ellipse 6"/>
          <p:cNvPicPr>
            <a:picLocks noChangeAspect="1"/>
          </p:cNvPicPr>
          <p:nvPr/>
        </p:nvPicPr>
        <p:blipFill>
          <a:blip r:embed="rId4"/>
          <a:srcRect l="22787" t="50733"/>
          <a:stretch>
            <a:fillRect/>
          </a:stretch>
        </p:blipFill>
        <p:spPr>
          <a:xfrm>
            <a:off x="0" y="0"/>
            <a:ext cx="15980546" cy="11983611"/>
          </a:xfrm>
          <a:prstGeom prst="rect">
            <a:avLst/>
          </a:prstGeom>
        </p:spPr>
      </p:pic>
      <p:pic>
        <p:nvPicPr>
          <p:cNvPr id="4" name="featpaper-node:1:31" descr="Ellipse 7"/>
          <p:cNvPicPr>
            <a:picLocks noChangeAspect="1"/>
          </p:cNvPicPr>
          <p:nvPr/>
        </p:nvPicPr>
        <p:blipFill>
          <a:blip r:embed="rId5"/>
          <a:srcRect r="48960" b="52630"/>
          <a:stretch>
            <a:fillRect/>
          </a:stretch>
        </p:blipFill>
        <p:spPr>
          <a:xfrm>
            <a:off x="11828033" y="1744783"/>
            <a:ext cx="12555967" cy="11971217"/>
          </a:xfrm>
          <a:prstGeom prst="rect">
            <a:avLst/>
          </a:prstGeom>
        </p:spPr>
      </p:pic>
      <p:sp>
        <p:nvSpPr>
          <p:cNvPr id="5" name="featpaper-node:1:32"/>
          <p:cNvSpPr/>
          <p:nvPr/>
        </p:nvSpPr>
        <p:spPr>
          <a:xfrm>
            <a:off x="3401092" y="4347181"/>
            <a:ext cx="19718020" cy="3429000"/>
          </a:xfrm>
          <a:prstGeom prst="rect">
            <a:avLst/>
          </a:prstGeom>
          <a:noFill/>
          <a:ln/>
        </p:spPr>
        <p:txBody>
          <a:bodyPr wrap="none" lIns="0" tIns="0" rIns="0" bIns="0" rtlCol="0" anchor="t"/>
          <a:lstStyle/>
          <a:p>
            <a:pPr marL="0" indent="0" algn="l">
              <a:lnSpc>
                <a:spcPts val="27000"/>
              </a:lnSpc>
              <a:buNone/>
            </a:pPr>
            <a:r>
              <a:rPr lang="en-US" sz="18000" b="1" kern="0" spc="-198" dirty="0">
                <a:solidFill>
                  <a:srgbClr val="FFFFFF"/>
                </a:solidFill>
                <a:latin typeface="Inter" pitchFamily="34" charset="0"/>
                <a:ea typeface="Inter" pitchFamily="34" charset="-122"/>
                <a:cs typeface="Inter" pitchFamily="34" charset="-120"/>
              </a:rPr>
              <a:t>Dice Performance </a:t>
            </a:r>
            <a:endParaRPr lang="en-US" sz="18000" dirty="0"/>
          </a:p>
        </p:txBody>
      </p:sp>
      <p:sp>
        <p:nvSpPr>
          <p:cNvPr id="6" name="featpaper-node:1:33"/>
          <p:cNvSpPr/>
          <p:nvPr/>
        </p:nvSpPr>
        <p:spPr>
          <a:xfrm>
            <a:off x="3403600" y="7545783"/>
            <a:ext cx="3258820" cy="723900"/>
          </a:xfrm>
          <a:prstGeom prst="rect">
            <a:avLst/>
          </a:prstGeom>
          <a:noFill/>
          <a:ln/>
        </p:spPr>
        <p:txBody>
          <a:bodyPr wrap="none" lIns="0" tIns="0" rIns="0" bIns="0" rtlCol="0" anchor="t"/>
          <a:lstStyle/>
          <a:p>
            <a:pPr marL="0" indent="0" algn="l">
              <a:lnSpc>
                <a:spcPts val="3600"/>
              </a:lnSpc>
              <a:buNone/>
            </a:pPr>
            <a:r>
              <a:rPr lang="en-US" sz="2400" kern="0" spc="-26" dirty="0">
                <a:solidFill>
                  <a:srgbClr val="FFFFFF"/>
                </a:solidFill>
                <a:latin typeface="Inter" pitchFamily="34" charset="0"/>
                <a:ea typeface="Inter" pitchFamily="34" charset="-122"/>
                <a:cs typeface="Inter" pitchFamily="34" charset="-120"/>
              </a:rPr>
              <a:t>SINCE 1989</a:t>
            </a:r>
            <a:r>
              <a:rPr lang="en-US" sz="3807" kern="0" spc="-42" dirty="0">
                <a:solidFill>
                  <a:srgbClr val="FFFFFF"/>
                </a:solidFill>
                <a:latin typeface="Inter" pitchFamily="34" charset="0"/>
                <a:ea typeface="Inter" pitchFamily="34" charset="-122"/>
                <a:cs typeface="Inter" pitchFamily="34" charset="-120"/>
              </a:rPr>
              <a:t> Group</a:t>
            </a:r>
            <a:endParaRPr lang="en-US" sz="2400" dirty="0"/>
          </a:p>
        </p:txBody>
      </p:sp>
      <p:sp>
        <p:nvSpPr>
          <p:cNvPr id="7" name="featpaper-node:1:34"/>
          <p:cNvSpPr/>
          <p:nvPr/>
        </p:nvSpPr>
        <p:spPr>
          <a:xfrm>
            <a:off x="19748500" y="11709400"/>
            <a:ext cx="3627120" cy="2006600"/>
          </a:xfrm>
          <a:prstGeom prst="rect">
            <a:avLst/>
          </a:prstGeom>
          <a:noFill/>
          <a:ln/>
        </p:spPr>
        <p:txBody>
          <a:bodyPr wrap="square" lIns="0" tIns="0" rIns="0" bIns="0" rtlCol="0" anchor="t"/>
          <a:lstStyle/>
          <a:p>
            <a:pPr marL="0" indent="0" algn="r">
              <a:lnSpc>
                <a:spcPts val="4500"/>
              </a:lnSpc>
              <a:buNone/>
            </a:pPr>
            <a:r>
              <a:rPr lang="en-US" sz="3000" kern="0" spc="-33" dirty="0">
                <a:solidFill>
                  <a:srgbClr val="FFFFFF"/>
                </a:solidFill>
                <a:latin typeface="Inter" pitchFamily="34" charset="0"/>
                <a:ea typeface="Inter" pitchFamily="34" charset="-122"/>
                <a:cs typeface="Inter" pitchFamily="34" charset="-120"/>
              </a:rPr>
              <a:t>www.linkedin.com/in/ahmed-rashad-48b979218</a:t>
            </a:r>
            <a:endParaRPr lang="en-US" sz="3000" dirty="0"/>
          </a:p>
        </p:txBody>
      </p:sp>
      <p:sp>
        <p:nvSpPr>
          <p:cNvPr id="8" name="featpaper-node:1:35"/>
          <p:cNvSpPr/>
          <p:nvPr/>
        </p:nvSpPr>
        <p:spPr>
          <a:xfrm>
            <a:off x="20942300" y="11228919"/>
            <a:ext cx="2433320" cy="482600"/>
          </a:xfrm>
          <a:prstGeom prst="rect">
            <a:avLst/>
          </a:prstGeom>
          <a:noFill/>
          <a:ln/>
        </p:spPr>
        <p:txBody>
          <a:bodyPr wrap="none" lIns="0" tIns="0" rIns="0" bIns="0" rtlCol="0" anchor="t"/>
          <a:lstStyle/>
          <a:p>
            <a:pPr marL="0" indent="0" algn="r">
              <a:lnSpc>
                <a:spcPts val="3750"/>
              </a:lnSpc>
              <a:buNone/>
            </a:pPr>
            <a:r>
              <a:rPr lang="en-US" sz="2500" kern="0" spc="-28" dirty="0">
                <a:solidFill>
                  <a:srgbClr val="FFFFFF"/>
                </a:solidFill>
                <a:latin typeface="Inter" pitchFamily="34" charset="0"/>
                <a:ea typeface="Inter" pitchFamily="34" charset="-122"/>
                <a:cs typeface="Inter" pitchFamily="34" charset="-120"/>
              </a:rPr>
              <a:t>Linkedin</a:t>
            </a:r>
            <a:endParaRPr lang="en-US" sz="2500" dirty="0"/>
          </a:p>
        </p:txBody>
      </p:sp>
      <p:sp>
        <p:nvSpPr>
          <p:cNvPr id="9" name="featpaper-node:1:36"/>
          <p:cNvSpPr/>
          <p:nvPr/>
        </p:nvSpPr>
        <p:spPr>
          <a:xfrm>
            <a:off x="19710400" y="858455"/>
            <a:ext cx="3665220" cy="571500"/>
          </a:xfrm>
          <a:prstGeom prst="rect">
            <a:avLst/>
          </a:prstGeom>
          <a:noFill/>
          <a:ln/>
        </p:spPr>
        <p:txBody>
          <a:bodyPr wrap="none" lIns="0" tIns="0" rIns="0" bIns="0" rtlCol="0" anchor="t"/>
          <a:lstStyle/>
          <a:p>
            <a:pPr marL="0" indent="0" algn="r">
              <a:lnSpc>
                <a:spcPts val="4500"/>
              </a:lnSpc>
              <a:buNone/>
            </a:pPr>
            <a:r>
              <a:rPr lang="en-US" sz="3000" kern="0" spc="-33" dirty="0">
                <a:solidFill>
                  <a:srgbClr val="FFFFFF"/>
                </a:solidFill>
                <a:latin typeface="Inter" pitchFamily="34" charset="0"/>
                <a:ea typeface="Inter" pitchFamily="34" charset="-122"/>
                <a:cs typeface="Inter" pitchFamily="34" charset="-120"/>
              </a:rPr>
              <a:t>welcome</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1D7D0"/>
        </a:solidFill>
        <a:effectLst/>
      </p:bgPr>
    </p:bg>
    <p:spTree>
      <p:nvGrpSpPr>
        <p:cNvPr id="1" name=""/>
        <p:cNvGrpSpPr/>
        <p:nvPr/>
      </p:nvGrpSpPr>
      <p:grpSpPr>
        <a:xfrm>
          <a:off x="0" y="0"/>
          <a:ext cx="0" cy="0"/>
          <a:chOff x="0" y="0"/>
          <a:chExt cx="0" cy="0"/>
        </a:xfrm>
      </p:grpSpPr>
      <p:pic>
        <p:nvPicPr>
          <p:cNvPr id="2" name="featpaper-node:1:66" descr="2"/>
          <p:cNvPicPr>
            <a:picLocks noChangeAspect="1"/>
          </p:cNvPicPr>
          <p:nvPr/>
        </p:nvPicPr>
        <p:blipFill>
          <a:blip r:embed="rId3"/>
          <a:stretch>
            <a:fillRect/>
          </a:stretch>
        </p:blipFill>
        <p:spPr>
          <a:xfrm>
            <a:off x="0" y="0"/>
            <a:ext cx="24384000" cy="13716000"/>
          </a:xfrm>
          <a:prstGeom prst="rect">
            <a:avLst/>
          </a:prstGeom>
        </p:spPr>
      </p:pic>
      <p:sp>
        <p:nvSpPr>
          <p:cNvPr id="3" name="featpaper-node:1:67"/>
          <p:cNvSpPr/>
          <p:nvPr/>
        </p:nvSpPr>
        <p:spPr>
          <a:xfrm>
            <a:off x="5359400" y="5511800"/>
            <a:ext cx="13705413" cy="4038600"/>
          </a:xfrm>
          <a:prstGeom prst="rect">
            <a:avLst/>
          </a:prstGeom>
          <a:noFill/>
          <a:ln/>
        </p:spPr>
        <p:txBody>
          <a:bodyPr wrap="square" lIns="0" tIns="0" rIns="0" bIns="0" rtlCol="0" anchor="t"/>
          <a:lstStyle/>
          <a:p>
            <a:pPr marL="0" indent="0" algn="ctr">
              <a:lnSpc>
                <a:spcPts val="5250"/>
              </a:lnSpc>
              <a:buNone/>
            </a:pPr>
            <a:r>
              <a:rPr lang="en-US" sz="3500" kern="0" spc="-39" dirty="0">
                <a:solidFill>
                  <a:srgbClr val="287293"/>
                </a:solidFill>
                <a:latin typeface="Inter" pitchFamily="34" charset="0"/>
                <a:ea typeface="Inter" pitchFamily="34" charset="-122"/>
                <a:cs typeface="Inter" pitchFamily="34" charset="-120"/>
              </a:rPr>
              <a:t>Welcome to our Business Performance Review. In this presentation, we will analyze sales performance, customer and style trends, production efficiency, delivery reliability, and key business risks. Based on our findings, we will present strategic recommendations and next steps to improve profitability, operational performance, and customer satisfaction.</a:t>
            </a:r>
            <a:endParaRPr lang="en-US" sz="3500" dirty="0"/>
          </a:p>
        </p:txBody>
      </p:sp>
      <p:sp>
        <p:nvSpPr>
          <p:cNvPr id="4" name="featpaper-node:1:68"/>
          <p:cNvSpPr/>
          <p:nvPr/>
        </p:nvSpPr>
        <p:spPr>
          <a:xfrm>
            <a:off x="20116800" y="12595127"/>
            <a:ext cx="3627120" cy="482600"/>
          </a:xfrm>
          <a:prstGeom prst="rect">
            <a:avLst/>
          </a:prstGeom>
          <a:noFill/>
          <a:ln/>
        </p:spPr>
        <p:txBody>
          <a:bodyPr wrap="none" lIns="0" tIns="0" rIns="0" bIns="0" rtlCol="0" anchor="t"/>
          <a:lstStyle/>
          <a:p>
            <a:pPr marL="0" indent="0" algn="r">
              <a:lnSpc>
                <a:spcPts val="3807"/>
              </a:lnSpc>
              <a:buNone/>
            </a:pPr>
            <a:r>
              <a:rPr lang="en-US" sz="2538" kern="0" spc="-28" dirty="0">
                <a:solidFill>
                  <a:srgbClr val="000000"/>
                </a:solidFill>
                <a:latin typeface="Inter" pitchFamily="34" charset="0"/>
                <a:ea typeface="Inter" pitchFamily="34" charset="-122"/>
                <a:cs typeface="Inter" pitchFamily="34" charset="-120"/>
              </a:rPr>
              <a:t>Page | 2</a:t>
            </a:r>
            <a:endParaRPr lang="en-US" sz="2538" dirty="0"/>
          </a:p>
        </p:txBody>
      </p:sp>
      <p:pic>
        <p:nvPicPr>
          <p:cNvPr id="5" name="featpaper-node:1:71" descr="Ellipse 6"/>
          <p:cNvPicPr>
            <a:picLocks noChangeAspect="1"/>
          </p:cNvPicPr>
          <p:nvPr/>
        </p:nvPicPr>
        <p:blipFill>
          <a:blip r:embed="rId4"/>
          <a:stretch>
            <a:fillRect/>
          </a:stretch>
        </p:blipFill>
        <p:spPr>
          <a:xfrm>
            <a:off x="7717219" y="0"/>
            <a:ext cx="16666781" cy="13716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87293"/>
        </a:solidFill>
        <a:effectLst/>
      </p:bgPr>
    </p:bg>
    <p:spTree>
      <p:nvGrpSpPr>
        <p:cNvPr id="1" name=""/>
        <p:cNvGrpSpPr/>
        <p:nvPr/>
      </p:nvGrpSpPr>
      <p:grpSpPr>
        <a:xfrm>
          <a:off x="0" y="0"/>
          <a:ext cx="0" cy="0"/>
          <a:chOff x="0" y="0"/>
          <a:chExt cx="0" cy="0"/>
        </a:xfrm>
      </p:grpSpPr>
      <p:pic>
        <p:nvPicPr>
          <p:cNvPr id="2" name="featpaper-node:1:82" descr="3"/>
          <p:cNvPicPr>
            <a:picLocks noChangeAspect="1"/>
          </p:cNvPicPr>
          <p:nvPr/>
        </p:nvPicPr>
        <p:blipFill>
          <a:blip r:embed="rId3"/>
          <a:stretch>
            <a:fillRect/>
          </a:stretch>
        </p:blipFill>
        <p:spPr>
          <a:xfrm>
            <a:off x="0" y="0"/>
            <a:ext cx="24384000" cy="13716000"/>
          </a:xfrm>
          <a:prstGeom prst="rect">
            <a:avLst/>
          </a:prstGeom>
        </p:spPr>
      </p:pic>
      <p:pic>
        <p:nvPicPr>
          <p:cNvPr id="3" name="featpaper-node:1:83" descr="Ellipse 6"/>
          <p:cNvPicPr>
            <a:picLocks noChangeAspect="1"/>
          </p:cNvPicPr>
          <p:nvPr/>
        </p:nvPicPr>
        <p:blipFill>
          <a:blip r:embed="rId4"/>
          <a:stretch>
            <a:fillRect/>
          </a:stretch>
        </p:blipFill>
        <p:spPr>
          <a:xfrm>
            <a:off x="2916622" y="0"/>
            <a:ext cx="20696628" cy="13716000"/>
          </a:xfrm>
          <a:prstGeom prst="rect">
            <a:avLst/>
          </a:prstGeom>
        </p:spPr>
      </p:pic>
      <p:sp>
        <p:nvSpPr>
          <p:cNvPr id="4" name="featpaper-node:1:86"/>
          <p:cNvSpPr/>
          <p:nvPr/>
        </p:nvSpPr>
        <p:spPr>
          <a:xfrm>
            <a:off x="1295400" y="914400"/>
            <a:ext cx="10231120" cy="1219200"/>
          </a:xfrm>
          <a:prstGeom prst="rect">
            <a:avLst/>
          </a:prstGeom>
          <a:noFill/>
          <a:ln/>
        </p:spPr>
        <p:txBody>
          <a:bodyPr wrap="none" lIns="0" tIns="0" rIns="0" bIns="0" rtlCol="0" anchor="t"/>
          <a:lstStyle/>
          <a:p>
            <a:pPr marL="0" indent="0" algn="l">
              <a:lnSpc>
                <a:spcPts val="9600"/>
              </a:lnSpc>
              <a:buNone/>
            </a:pPr>
            <a:r>
              <a:rPr lang="en-US" sz="8000" kern="0" spc="-88" dirty="0">
                <a:solidFill>
                  <a:srgbClr val="E1D7D0"/>
                </a:solidFill>
                <a:latin typeface="Inter" pitchFamily="34" charset="0"/>
                <a:ea typeface="Inter" pitchFamily="34" charset="-122"/>
                <a:cs typeface="Inter" pitchFamily="34" charset="-120"/>
              </a:rPr>
              <a:t>Summery Dashboard</a:t>
            </a:r>
            <a:endParaRPr lang="en-US" sz="8000" dirty="0"/>
          </a:p>
        </p:txBody>
      </p:sp>
      <p:sp>
        <p:nvSpPr>
          <p:cNvPr id="5" name="featpaper-node:1:124"/>
          <p:cNvSpPr/>
          <p:nvPr/>
        </p:nvSpPr>
        <p:spPr>
          <a:xfrm>
            <a:off x="1701800" y="2563063"/>
            <a:ext cx="1938020" cy="762000"/>
          </a:xfrm>
          <a:prstGeom prst="rect">
            <a:avLst/>
          </a:prstGeom>
          <a:noFill/>
          <a:ln/>
        </p:spPr>
        <p:txBody>
          <a:bodyPr wrap="none" lIns="0" tIns="0" rIns="0" bIns="0" rtlCol="0" anchor="t"/>
          <a:lstStyle/>
          <a:p>
            <a:pPr marL="0" indent="0" algn="l">
              <a:lnSpc>
                <a:spcPts val="6000"/>
              </a:lnSpc>
              <a:buNone/>
            </a:pPr>
            <a:r>
              <a:rPr lang="en-US" sz="5000" kern="0" spc="-55" dirty="0">
                <a:solidFill>
                  <a:srgbClr val="E1D7D0"/>
                </a:solidFill>
                <a:latin typeface="Inter" pitchFamily="34" charset="0"/>
                <a:ea typeface="Inter" pitchFamily="34" charset="-122"/>
                <a:cs typeface="Inter" pitchFamily="34" charset="-120"/>
              </a:rPr>
              <a:t>KPIS:</a:t>
            </a:r>
            <a:endParaRPr lang="en-US" sz="5000" dirty="0"/>
          </a:p>
        </p:txBody>
      </p:sp>
      <p:sp>
        <p:nvSpPr>
          <p:cNvPr id="6" name="featpaper-node:1:134"/>
          <p:cNvSpPr/>
          <p:nvPr/>
        </p:nvSpPr>
        <p:spPr>
          <a:xfrm>
            <a:off x="1701800" y="5065188"/>
            <a:ext cx="2319020" cy="762000"/>
          </a:xfrm>
          <a:prstGeom prst="rect">
            <a:avLst/>
          </a:prstGeom>
          <a:noFill/>
          <a:ln/>
        </p:spPr>
        <p:txBody>
          <a:bodyPr wrap="none" lIns="0" tIns="0" rIns="0" bIns="0" rtlCol="0" anchor="t"/>
          <a:lstStyle/>
          <a:p>
            <a:pPr marL="0" indent="0" algn="l">
              <a:lnSpc>
                <a:spcPts val="6000"/>
              </a:lnSpc>
              <a:buNone/>
            </a:pPr>
            <a:r>
              <a:rPr lang="en-US" sz="5000" kern="0" spc="-55" dirty="0">
                <a:solidFill>
                  <a:srgbClr val="E1D7D0"/>
                </a:solidFill>
                <a:latin typeface="Inter" pitchFamily="34" charset="0"/>
                <a:ea typeface="Inter" pitchFamily="34" charset="-122"/>
                <a:cs typeface="Inter" pitchFamily="34" charset="-120"/>
              </a:rPr>
              <a:t>Insight: </a:t>
            </a:r>
            <a:endParaRPr lang="en-US" sz="5000" dirty="0"/>
          </a:p>
        </p:txBody>
      </p:sp>
      <p:sp>
        <p:nvSpPr>
          <p:cNvPr id="7" name="featpaper-node:1:126"/>
          <p:cNvSpPr/>
          <p:nvPr/>
        </p:nvSpPr>
        <p:spPr>
          <a:xfrm>
            <a:off x="1701800" y="3743375"/>
            <a:ext cx="4909820" cy="457200"/>
          </a:xfrm>
          <a:prstGeom prst="rect">
            <a:avLst/>
          </a:prstGeom>
          <a:noFill/>
          <a:ln/>
        </p:spPr>
        <p:txBody>
          <a:bodyPr wrap="none" lIns="0" tIns="0" rIns="0" bIns="0" rtlCol="0" anchor="t"/>
          <a:lstStyle/>
          <a:p>
            <a:pPr marL="0" indent="0" algn="l">
              <a:lnSpc>
                <a:spcPts val="3600"/>
              </a:lnSpc>
              <a:buNone/>
            </a:pPr>
            <a:r>
              <a:rPr lang="en-US" sz="3000" kern="0" spc="-33" dirty="0">
                <a:solidFill>
                  <a:srgbClr val="E1D7D0"/>
                </a:solidFill>
                <a:latin typeface="Inter" pitchFamily="34" charset="0"/>
                <a:ea typeface="Inter" pitchFamily="34" charset="-122"/>
                <a:cs typeface="Inter" pitchFamily="34" charset="-120"/>
              </a:rPr>
              <a:t>Number of Risk unit is (2) </a:t>
            </a:r>
            <a:endParaRPr lang="en-US" sz="3000" dirty="0"/>
          </a:p>
        </p:txBody>
      </p:sp>
      <p:sp>
        <p:nvSpPr>
          <p:cNvPr id="8" name="featpaper-node:1:136"/>
          <p:cNvSpPr/>
          <p:nvPr/>
        </p:nvSpPr>
        <p:spPr>
          <a:xfrm>
            <a:off x="1701800" y="6683802"/>
            <a:ext cx="11107420" cy="533400"/>
          </a:xfrm>
          <a:prstGeom prst="rect">
            <a:avLst/>
          </a:prstGeom>
          <a:noFill/>
          <a:ln/>
        </p:spPr>
        <p:txBody>
          <a:bodyPr wrap="none" lIns="0" tIns="0" rIns="0" bIns="0" rtlCol="0" anchor="t"/>
          <a:lstStyle/>
          <a:p>
            <a:pPr marL="0" indent="0" algn="l">
              <a:lnSpc>
                <a:spcPts val="4200"/>
              </a:lnSpc>
              <a:buNone/>
            </a:pPr>
            <a:r>
              <a:rPr lang="en-US" sz="3500" kern="0" spc="-39" dirty="0">
                <a:solidFill>
                  <a:srgbClr val="E1D7D0"/>
                </a:solidFill>
                <a:latin typeface="Inter" pitchFamily="34" charset="0"/>
                <a:ea typeface="Inter" pitchFamily="34" charset="-122"/>
                <a:cs typeface="Inter" pitchFamily="34" charset="-120"/>
              </a:rPr>
              <a:t>Turnover increased in 2025 compare to 2023 &amp; 2024 </a:t>
            </a:r>
            <a:endParaRPr lang="en-US" sz="3500" dirty="0"/>
          </a:p>
        </p:txBody>
      </p:sp>
      <p:sp>
        <p:nvSpPr>
          <p:cNvPr id="9" name="featpaper-node:1:138"/>
          <p:cNvSpPr/>
          <p:nvPr/>
        </p:nvSpPr>
        <p:spPr>
          <a:xfrm>
            <a:off x="1701800" y="7649002"/>
            <a:ext cx="10675620" cy="533400"/>
          </a:xfrm>
          <a:prstGeom prst="rect">
            <a:avLst/>
          </a:prstGeom>
          <a:noFill/>
          <a:ln/>
        </p:spPr>
        <p:txBody>
          <a:bodyPr wrap="none" lIns="0" tIns="0" rIns="0" bIns="0" rtlCol="0" anchor="t"/>
          <a:lstStyle/>
          <a:p>
            <a:pPr marL="0" indent="0" algn="l">
              <a:lnSpc>
                <a:spcPts val="4200"/>
              </a:lnSpc>
              <a:buNone/>
            </a:pPr>
            <a:r>
              <a:rPr lang="en-US" sz="3500" kern="0" spc="-39" dirty="0">
                <a:solidFill>
                  <a:srgbClr val="E1D7D0"/>
                </a:solidFill>
                <a:latin typeface="Inter" pitchFamily="34" charset="0"/>
                <a:ea typeface="Inter" pitchFamily="34" charset="-122"/>
                <a:cs typeface="Inter" pitchFamily="34" charset="-120"/>
              </a:rPr>
              <a:t>Unit E , Unit F the Achievement is Less Than 90% </a:t>
            </a:r>
            <a:endParaRPr lang="en-US" sz="3500" dirty="0"/>
          </a:p>
        </p:txBody>
      </p:sp>
      <p:sp>
        <p:nvSpPr>
          <p:cNvPr id="10" name="featpaper-node:1:128"/>
          <p:cNvSpPr/>
          <p:nvPr/>
        </p:nvSpPr>
        <p:spPr>
          <a:xfrm>
            <a:off x="6896100" y="3743375"/>
            <a:ext cx="4465320" cy="457200"/>
          </a:xfrm>
          <a:prstGeom prst="rect">
            <a:avLst/>
          </a:prstGeom>
          <a:noFill/>
          <a:ln/>
        </p:spPr>
        <p:txBody>
          <a:bodyPr wrap="none" lIns="0" tIns="0" rIns="0" bIns="0" rtlCol="0" anchor="t"/>
          <a:lstStyle/>
          <a:p>
            <a:pPr marL="0" indent="0" algn="l">
              <a:lnSpc>
                <a:spcPts val="3600"/>
              </a:lnSpc>
              <a:buNone/>
            </a:pPr>
            <a:r>
              <a:rPr lang="en-US" sz="3000" kern="0" spc="-33" dirty="0">
                <a:solidFill>
                  <a:srgbClr val="E1D7D0"/>
                </a:solidFill>
                <a:latin typeface="Inter" pitchFamily="34" charset="0"/>
                <a:ea typeface="Inter" pitchFamily="34" charset="-122"/>
                <a:cs typeface="Inter" pitchFamily="34" charset="-120"/>
              </a:rPr>
              <a:t>Unit Delivery Risk is (6) </a:t>
            </a:r>
            <a:endParaRPr lang="en-US" sz="3000" dirty="0"/>
          </a:p>
        </p:txBody>
      </p:sp>
      <p:sp>
        <p:nvSpPr>
          <p:cNvPr id="11" name="featpaper-node:1:87"/>
          <p:cNvSpPr/>
          <p:nvPr/>
        </p:nvSpPr>
        <p:spPr>
          <a:xfrm>
            <a:off x="20116800" y="12595127"/>
            <a:ext cx="3627120" cy="482600"/>
          </a:xfrm>
          <a:prstGeom prst="rect">
            <a:avLst/>
          </a:prstGeom>
          <a:noFill/>
          <a:ln/>
        </p:spPr>
        <p:txBody>
          <a:bodyPr wrap="none" lIns="0" tIns="0" rIns="0" bIns="0" rtlCol="0" anchor="t"/>
          <a:lstStyle/>
          <a:p>
            <a:pPr marL="0" indent="0" algn="r">
              <a:lnSpc>
                <a:spcPts val="3807"/>
              </a:lnSpc>
              <a:buNone/>
            </a:pPr>
            <a:r>
              <a:rPr lang="en-US" sz="2538" kern="0" spc="-28" dirty="0">
                <a:solidFill>
                  <a:srgbClr val="FFFFFF"/>
                </a:solidFill>
                <a:latin typeface="Inter" pitchFamily="34" charset="0"/>
                <a:ea typeface="Inter" pitchFamily="34" charset="-122"/>
                <a:cs typeface="Inter" pitchFamily="34" charset="-120"/>
              </a:rPr>
              <a:t>Page | 3</a:t>
            </a:r>
            <a:endParaRPr lang="en-US" sz="2538" dirty="0"/>
          </a:p>
        </p:txBody>
      </p:sp>
      <p:sp>
        <p:nvSpPr>
          <p:cNvPr id="12" name="featpaper-node:1:130"/>
          <p:cNvSpPr/>
          <p:nvPr/>
        </p:nvSpPr>
        <p:spPr>
          <a:xfrm>
            <a:off x="11645900" y="3743375"/>
            <a:ext cx="5265420" cy="457200"/>
          </a:xfrm>
          <a:prstGeom prst="rect">
            <a:avLst/>
          </a:prstGeom>
          <a:noFill/>
          <a:ln/>
        </p:spPr>
        <p:txBody>
          <a:bodyPr wrap="none" lIns="0" tIns="0" rIns="0" bIns="0" rtlCol="0" anchor="t"/>
          <a:lstStyle/>
          <a:p>
            <a:pPr marL="0" indent="0" algn="l">
              <a:lnSpc>
                <a:spcPts val="3600"/>
              </a:lnSpc>
              <a:buNone/>
            </a:pPr>
            <a:r>
              <a:rPr lang="en-US" sz="3000" kern="0" spc="-33" dirty="0">
                <a:solidFill>
                  <a:srgbClr val="E1D7D0"/>
                </a:solidFill>
                <a:latin typeface="Inter" pitchFamily="34" charset="0"/>
                <a:ea typeface="Inter" pitchFamily="34" charset="-122"/>
                <a:cs typeface="Inter" pitchFamily="34" charset="-120"/>
              </a:rPr>
              <a:t>Number of Customer is (12) </a:t>
            </a:r>
            <a:endParaRPr lang="en-US" sz="3000" dirty="0"/>
          </a:p>
        </p:txBody>
      </p:sp>
      <p:sp>
        <p:nvSpPr>
          <p:cNvPr id="13" name="featpaper-node:1:132"/>
          <p:cNvSpPr/>
          <p:nvPr/>
        </p:nvSpPr>
        <p:spPr>
          <a:xfrm>
            <a:off x="17386300" y="3765208"/>
            <a:ext cx="6357620" cy="457200"/>
          </a:xfrm>
          <a:prstGeom prst="rect">
            <a:avLst/>
          </a:prstGeom>
          <a:noFill/>
          <a:ln/>
        </p:spPr>
        <p:txBody>
          <a:bodyPr wrap="none" lIns="0" tIns="0" rIns="0" bIns="0" rtlCol="0" anchor="t"/>
          <a:lstStyle/>
          <a:p>
            <a:pPr marL="0" indent="0" algn="l">
              <a:lnSpc>
                <a:spcPts val="3600"/>
              </a:lnSpc>
              <a:buNone/>
            </a:pPr>
            <a:r>
              <a:rPr lang="en-US" sz="3000" kern="0" spc="-33" dirty="0">
                <a:solidFill>
                  <a:srgbClr val="E1D7D0"/>
                </a:solidFill>
                <a:latin typeface="Inter" pitchFamily="34" charset="0"/>
                <a:ea typeface="Inter" pitchFamily="34" charset="-122"/>
                <a:cs typeface="Inter" pitchFamily="34" charset="-120"/>
              </a:rPr>
              <a:t>Average of Free on Board is (5.3$)</a:t>
            </a:r>
            <a:endParaRPr lang="en-US" sz="3000" dirty="0"/>
          </a:p>
        </p:txBody>
      </p:sp>
      <p:sp>
        <p:nvSpPr>
          <p:cNvPr id="14" name="featpaper-node:1:140"/>
          <p:cNvSpPr/>
          <p:nvPr/>
        </p:nvSpPr>
        <p:spPr>
          <a:xfrm>
            <a:off x="1663700" y="8721254"/>
            <a:ext cx="17139920" cy="533400"/>
          </a:xfrm>
          <a:prstGeom prst="rect">
            <a:avLst/>
          </a:prstGeom>
          <a:noFill/>
          <a:ln/>
        </p:spPr>
        <p:txBody>
          <a:bodyPr wrap="none" lIns="0" tIns="0" rIns="0" bIns="0" rtlCol="0" anchor="t"/>
          <a:lstStyle/>
          <a:p>
            <a:pPr marL="0" indent="0" algn="l">
              <a:lnSpc>
                <a:spcPts val="4200"/>
              </a:lnSpc>
              <a:buNone/>
            </a:pPr>
            <a:r>
              <a:rPr lang="en-US" sz="3500" kern="0" spc="-39" dirty="0">
                <a:solidFill>
                  <a:srgbClr val="E1D7D0"/>
                </a:solidFill>
                <a:latin typeface="Inter" pitchFamily="34" charset="0"/>
                <a:ea typeface="Inter" pitchFamily="34" charset="-122"/>
                <a:cs typeface="Inter" pitchFamily="34" charset="-120"/>
              </a:rPr>
              <a:t>Top 6 Customer is High Turnover is (Decathlon, Zara, Carffour, Tesco, Next, M&amp;S)</a:t>
            </a:r>
            <a:endParaRPr lang="en-US" sz="3500" dirty="0"/>
          </a:p>
        </p:txBody>
      </p:sp>
      <p:sp>
        <p:nvSpPr>
          <p:cNvPr id="15" name="featpaper-node:3:2"/>
          <p:cNvSpPr/>
          <p:nvPr/>
        </p:nvSpPr>
        <p:spPr>
          <a:xfrm>
            <a:off x="1663700" y="9686454"/>
            <a:ext cx="18498820" cy="533400"/>
          </a:xfrm>
          <a:prstGeom prst="rect">
            <a:avLst/>
          </a:prstGeom>
          <a:noFill/>
          <a:ln/>
        </p:spPr>
        <p:txBody>
          <a:bodyPr wrap="none" lIns="0" tIns="0" rIns="0" bIns="0" rtlCol="0" anchor="t"/>
          <a:lstStyle/>
          <a:p>
            <a:pPr marL="0" indent="0" algn="l">
              <a:lnSpc>
                <a:spcPts val="4200"/>
              </a:lnSpc>
              <a:buNone/>
            </a:pPr>
            <a:r>
              <a:rPr lang="en-US" sz="3500" kern="0" spc="-39" dirty="0">
                <a:solidFill>
                  <a:srgbClr val="E1D7D0"/>
                </a:solidFill>
                <a:latin typeface="Inter" pitchFamily="34" charset="0"/>
                <a:ea typeface="Inter" pitchFamily="34" charset="-122"/>
                <a:cs typeface="Inter" pitchFamily="34" charset="-120"/>
              </a:rPr>
              <a:t>The High On Time Delivery Customer is (Carffour, Next) by 40% and others Less than 40</a:t>
            </a:r>
            <a:endParaRPr lang="en-US" sz="3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87293"/>
        </a:solidFill>
        <a:effectLst/>
      </p:bgPr>
    </p:bg>
    <p:spTree>
      <p:nvGrpSpPr>
        <p:cNvPr id="1" name=""/>
        <p:cNvGrpSpPr/>
        <p:nvPr/>
      </p:nvGrpSpPr>
      <p:grpSpPr>
        <a:xfrm>
          <a:off x="0" y="0"/>
          <a:ext cx="0" cy="0"/>
          <a:chOff x="0" y="0"/>
          <a:chExt cx="0" cy="0"/>
        </a:xfrm>
      </p:grpSpPr>
      <p:pic>
        <p:nvPicPr>
          <p:cNvPr id="2" name="featpaper-node:3:6" descr="4"/>
          <p:cNvPicPr>
            <a:picLocks noChangeAspect="1"/>
          </p:cNvPicPr>
          <p:nvPr/>
        </p:nvPicPr>
        <p:blipFill>
          <a:blip r:embed="rId3"/>
          <a:stretch>
            <a:fillRect/>
          </a:stretch>
        </p:blipFill>
        <p:spPr>
          <a:xfrm>
            <a:off x="0" y="0"/>
            <a:ext cx="24384000" cy="13716000"/>
          </a:xfrm>
          <a:prstGeom prst="rect">
            <a:avLst/>
          </a:prstGeom>
        </p:spPr>
      </p:pic>
      <p:pic>
        <p:nvPicPr>
          <p:cNvPr id="3" name="featpaper-node:3:7" descr="Ellipse 6"/>
          <p:cNvPicPr>
            <a:picLocks noChangeAspect="1"/>
          </p:cNvPicPr>
          <p:nvPr/>
        </p:nvPicPr>
        <p:blipFill>
          <a:blip r:embed="rId4"/>
          <a:stretch>
            <a:fillRect/>
          </a:stretch>
        </p:blipFill>
        <p:spPr>
          <a:xfrm>
            <a:off x="2916622" y="0"/>
            <a:ext cx="20696634" cy="13716000"/>
          </a:xfrm>
          <a:prstGeom prst="rect">
            <a:avLst/>
          </a:prstGeom>
        </p:spPr>
      </p:pic>
      <p:sp>
        <p:nvSpPr>
          <p:cNvPr id="4" name="featpaper-node:3:8"/>
          <p:cNvSpPr/>
          <p:nvPr/>
        </p:nvSpPr>
        <p:spPr>
          <a:xfrm>
            <a:off x="1295400" y="914400"/>
            <a:ext cx="10231120" cy="1219200"/>
          </a:xfrm>
          <a:prstGeom prst="rect">
            <a:avLst/>
          </a:prstGeom>
          <a:noFill/>
          <a:ln/>
        </p:spPr>
        <p:txBody>
          <a:bodyPr wrap="none" lIns="0" tIns="0" rIns="0" bIns="0" rtlCol="0" anchor="t"/>
          <a:lstStyle/>
          <a:p>
            <a:pPr marL="0" indent="0" algn="l">
              <a:lnSpc>
                <a:spcPts val="9600"/>
              </a:lnSpc>
              <a:buNone/>
            </a:pPr>
            <a:r>
              <a:rPr lang="en-US" sz="8000" kern="0" spc="-88" dirty="0">
                <a:solidFill>
                  <a:srgbClr val="E1D7D0"/>
                </a:solidFill>
                <a:latin typeface="Inter" pitchFamily="34" charset="0"/>
                <a:ea typeface="Inter" pitchFamily="34" charset="-122"/>
                <a:cs typeface="Inter" pitchFamily="34" charset="-120"/>
              </a:rPr>
              <a:t>Customer Dashboard</a:t>
            </a:r>
            <a:endParaRPr lang="en-US" sz="8000" dirty="0"/>
          </a:p>
        </p:txBody>
      </p:sp>
      <p:sp>
        <p:nvSpPr>
          <p:cNvPr id="5" name="featpaper-node:3:9"/>
          <p:cNvSpPr/>
          <p:nvPr/>
        </p:nvSpPr>
        <p:spPr>
          <a:xfrm>
            <a:off x="1701800" y="2563063"/>
            <a:ext cx="1938020" cy="762000"/>
          </a:xfrm>
          <a:prstGeom prst="rect">
            <a:avLst/>
          </a:prstGeom>
          <a:noFill/>
          <a:ln/>
        </p:spPr>
        <p:txBody>
          <a:bodyPr wrap="none" lIns="0" tIns="0" rIns="0" bIns="0" rtlCol="0" anchor="t"/>
          <a:lstStyle/>
          <a:p>
            <a:pPr marL="0" indent="0" algn="l">
              <a:lnSpc>
                <a:spcPts val="6000"/>
              </a:lnSpc>
              <a:buNone/>
            </a:pPr>
            <a:r>
              <a:rPr lang="en-US" sz="5000" kern="0" spc="-55" dirty="0">
                <a:solidFill>
                  <a:srgbClr val="E1D7D0"/>
                </a:solidFill>
                <a:latin typeface="Inter" pitchFamily="34" charset="0"/>
                <a:ea typeface="Inter" pitchFamily="34" charset="-122"/>
                <a:cs typeface="Inter" pitchFamily="34" charset="-120"/>
              </a:rPr>
              <a:t>KPIS:</a:t>
            </a:r>
            <a:endParaRPr lang="en-US" sz="5000" dirty="0"/>
          </a:p>
        </p:txBody>
      </p:sp>
      <p:sp>
        <p:nvSpPr>
          <p:cNvPr id="6" name="featpaper-node:3:10"/>
          <p:cNvSpPr/>
          <p:nvPr/>
        </p:nvSpPr>
        <p:spPr>
          <a:xfrm>
            <a:off x="1701800" y="5065188"/>
            <a:ext cx="2319020" cy="762000"/>
          </a:xfrm>
          <a:prstGeom prst="rect">
            <a:avLst/>
          </a:prstGeom>
          <a:noFill/>
          <a:ln/>
        </p:spPr>
        <p:txBody>
          <a:bodyPr wrap="none" lIns="0" tIns="0" rIns="0" bIns="0" rtlCol="0" anchor="t"/>
          <a:lstStyle/>
          <a:p>
            <a:pPr marL="0" indent="0" algn="l">
              <a:lnSpc>
                <a:spcPts val="6000"/>
              </a:lnSpc>
              <a:buNone/>
            </a:pPr>
            <a:r>
              <a:rPr lang="en-US" sz="5000" kern="0" spc="-55" dirty="0">
                <a:solidFill>
                  <a:srgbClr val="E1D7D0"/>
                </a:solidFill>
                <a:latin typeface="Inter" pitchFamily="34" charset="0"/>
                <a:ea typeface="Inter" pitchFamily="34" charset="-122"/>
                <a:cs typeface="Inter" pitchFamily="34" charset="-120"/>
              </a:rPr>
              <a:t>Insight: </a:t>
            </a:r>
            <a:endParaRPr lang="en-US" sz="5000" dirty="0"/>
          </a:p>
        </p:txBody>
      </p:sp>
      <p:sp>
        <p:nvSpPr>
          <p:cNvPr id="7" name="featpaper-node:3:11"/>
          <p:cNvSpPr/>
          <p:nvPr/>
        </p:nvSpPr>
        <p:spPr>
          <a:xfrm>
            <a:off x="1701800" y="3765208"/>
            <a:ext cx="5976620" cy="914400"/>
          </a:xfrm>
          <a:prstGeom prst="rect">
            <a:avLst/>
          </a:prstGeom>
          <a:noFill/>
          <a:ln/>
        </p:spPr>
        <p:txBody>
          <a:bodyPr wrap="square" lIns="0" tIns="0" rIns="0" bIns="0" rtlCol="0" anchor="t"/>
          <a:lstStyle/>
          <a:p>
            <a:pPr marL="0" indent="0" algn="l">
              <a:lnSpc>
                <a:spcPts val="3600"/>
              </a:lnSpc>
              <a:buNone/>
            </a:pPr>
            <a:r>
              <a:rPr lang="en-US" sz="3000" kern="0" spc="-33" dirty="0">
                <a:solidFill>
                  <a:srgbClr val="E1D7D0"/>
                </a:solidFill>
                <a:latin typeface="Inter" pitchFamily="34" charset="0"/>
                <a:ea typeface="Inter" pitchFamily="34" charset="-122"/>
                <a:cs typeface="Inter" pitchFamily="34" charset="-120"/>
              </a:rPr>
              <a:t>Total Turnover is (393.7 $) Millions </a:t>
            </a:r>
            <a:endParaRPr lang="en-US" sz="3000" dirty="0"/>
          </a:p>
        </p:txBody>
      </p:sp>
      <p:sp>
        <p:nvSpPr>
          <p:cNvPr id="8" name="featpaper-node:3:12"/>
          <p:cNvSpPr/>
          <p:nvPr/>
        </p:nvSpPr>
        <p:spPr>
          <a:xfrm>
            <a:off x="1701800" y="5901927"/>
            <a:ext cx="16847820" cy="533400"/>
          </a:xfrm>
          <a:prstGeom prst="rect">
            <a:avLst/>
          </a:prstGeom>
          <a:noFill/>
          <a:ln/>
        </p:spPr>
        <p:txBody>
          <a:bodyPr wrap="none" lIns="0" tIns="0" rIns="0" bIns="0" rtlCol="0" anchor="t"/>
          <a:lstStyle/>
          <a:p>
            <a:pPr marL="0" indent="0" algn="l">
              <a:lnSpc>
                <a:spcPts val="4200"/>
              </a:lnSpc>
              <a:buNone/>
            </a:pPr>
            <a:r>
              <a:rPr lang="en-US" sz="3500" kern="0" spc="-39" dirty="0">
                <a:solidFill>
                  <a:srgbClr val="E1D7D0"/>
                </a:solidFill>
                <a:latin typeface="Inter" pitchFamily="34" charset="0"/>
                <a:ea typeface="Inter" pitchFamily="34" charset="-122"/>
                <a:cs typeface="Inter" pitchFamily="34" charset="-120"/>
              </a:rPr>
              <a:t>Decathlon is High Turnover by (39.9 $) Millions and High Pieces by (7.4) Millions</a:t>
            </a:r>
            <a:endParaRPr lang="en-US" sz="3500" dirty="0"/>
          </a:p>
        </p:txBody>
      </p:sp>
      <p:sp>
        <p:nvSpPr>
          <p:cNvPr id="9" name="featpaper-node:3:13"/>
          <p:cNvSpPr/>
          <p:nvPr/>
        </p:nvSpPr>
        <p:spPr>
          <a:xfrm>
            <a:off x="1701800" y="6638527"/>
            <a:ext cx="16416020" cy="533400"/>
          </a:xfrm>
          <a:prstGeom prst="rect">
            <a:avLst/>
          </a:prstGeom>
          <a:noFill/>
          <a:ln/>
        </p:spPr>
        <p:txBody>
          <a:bodyPr wrap="none" lIns="0" tIns="0" rIns="0" bIns="0" rtlCol="0" anchor="t"/>
          <a:lstStyle/>
          <a:p>
            <a:pPr marL="0" indent="0" algn="l">
              <a:lnSpc>
                <a:spcPts val="4200"/>
              </a:lnSpc>
              <a:buNone/>
            </a:pPr>
            <a:r>
              <a:rPr lang="en-US" sz="3500" kern="0" spc="-39" dirty="0">
                <a:solidFill>
                  <a:srgbClr val="E1D7D0"/>
                </a:solidFill>
                <a:latin typeface="Inter" pitchFamily="34" charset="0"/>
                <a:ea typeface="Inter" pitchFamily="34" charset="-122"/>
                <a:cs typeface="Inter" pitchFamily="34" charset="-120"/>
              </a:rPr>
              <a:t>Primark is Low Turnover by (27.2 $) Millions and Low Pieces by (5.18) Millions</a:t>
            </a:r>
            <a:endParaRPr lang="en-US" sz="3500" dirty="0"/>
          </a:p>
        </p:txBody>
      </p:sp>
      <p:sp>
        <p:nvSpPr>
          <p:cNvPr id="10" name="featpaper-node:3:14"/>
          <p:cNvSpPr/>
          <p:nvPr/>
        </p:nvSpPr>
        <p:spPr>
          <a:xfrm>
            <a:off x="7251700" y="3743375"/>
            <a:ext cx="5125720" cy="457200"/>
          </a:xfrm>
          <a:prstGeom prst="rect">
            <a:avLst/>
          </a:prstGeom>
          <a:noFill/>
          <a:ln/>
        </p:spPr>
        <p:txBody>
          <a:bodyPr wrap="none" lIns="0" tIns="0" rIns="0" bIns="0" rtlCol="0" anchor="t"/>
          <a:lstStyle/>
          <a:p>
            <a:pPr marL="0" indent="0" algn="l">
              <a:lnSpc>
                <a:spcPts val="3600"/>
              </a:lnSpc>
              <a:buNone/>
            </a:pPr>
            <a:r>
              <a:rPr lang="en-US" sz="3000" kern="0" spc="-33" dirty="0">
                <a:solidFill>
                  <a:srgbClr val="E1D7D0"/>
                </a:solidFill>
                <a:latin typeface="Inter" pitchFamily="34" charset="0"/>
                <a:ea typeface="Inter" pitchFamily="34" charset="-122"/>
                <a:cs typeface="Inter" pitchFamily="34" charset="-120"/>
              </a:rPr>
              <a:t>Total Pieces is (75) Millions</a:t>
            </a:r>
            <a:endParaRPr lang="en-US" sz="3000" dirty="0"/>
          </a:p>
        </p:txBody>
      </p:sp>
      <p:sp>
        <p:nvSpPr>
          <p:cNvPr id="11" name="featpaper-node:3:15"/>
          <p:cNvSpPr/>
          <p:nvPr/>
        </p:nvSpPr>
        <p:spPr>
          <a:xfrm>
            <a:off x="20116800" y="12595127"/>
            <a:ext cx="3627120" cy="482600"/>
          </a:xfrm>
          <a:prstGeom prst="rect">
            <a:avLst/>
          </a:prstGeom>
          <a:noFill/>
          <a:ln/>
        </p:spPr>
        <p:txBody>
          <a:bodyPr wrap="none" lIns="0" tIns="0" rIns="0" bIns="0" rtlCol="0" anchor="t"/>
          <a:lstStyle/>
          <a:p>
            <a:pPr marL="0" indent="0" algn="r">
              <a:lnSpc>
                <a:spcPts val="3807"/>
              </a:lnSpc>
              <a:buNone/>
            </a:pPr>
            <a:r>
              <a:rPr lang="en-US" sz="2538" kern="0" spc="-28" dirty="0">
                <a:solidFill>
                  <a:srgbClr val="FFFFFF"/>
                </a:solidFill>
                <a:latin typeface="Inter" pitchFamily="34" charset="0"/>
                <a:ea typeface="Inter" pitchFamily="34" charset="-122"/>
                <a:cs typeface="Inter" pitchFamily="34" charset="-120"/>
              </a:rPr>
              <a:t>Page | 4</a:t>
            </a:r>
            <a:endParaRPr lang="en-US" sz="2538" dirty="0"/>
          </a:p>
        </p:txBody>
      </p:sp>
      <p:sp>
        <p:nvSpPr>
          <p:cNvPr id="12" name="featpaper-node:3:16"/>
          <p:cNvSpPr/>
          <p:nvPr/>
        </p:nvSpPr>
        <p:spPr>
          <a:xfrm>
            <a:off x="12331700" y="3743375"/>
            <a:ext cx="5265420" cy="457200"/>
          </a:xfrm>
          <a:prstGeom prst="rect">
            <a:avLst/>
          </a:prstGeom>
          <a:noFill/>
          <a:ln/>
        </p:spPr>
        <p:txBody>
          <a:bodyPr wrap="none" lIns="0" tIns="0" rIns="0" bIns="0" rtlCol="0" anchor="t"/>
          <a:lstStyle/>
          <a:p>
            <a:pPr marL="0" indent="0" algn="l">
              <a:lnSpc>
                <a:spcPts val="3600"/>
              </a:lnSpc>
              <a:buNone/>
            </a:pPr>
            <a:r>
              <a:rPr lang="en-US" sz="3000" kern="0" spc="-33" dirty="0">
                <a:solidFill>
                  <a:srgbClr val="E1D7D0"/>
                </a:solidFill>
                <a:latin typeface="Inter" pitchFamily="34" charset="0"/>
                <a:ea typeface="Inter" pitchFamily="34" charset="-122"/>
                <a:cs typeface="Inter" pitchFamily="34" charset="-120"/>
              </a:rPr>
              <a:t>Number of Customer is (12) </a:t>
            </a:r>
            <a:endParaRPr lang="en-US" sz="3000" dirty="0"/>
          </a:p>
        </p:txBody>
      </p:sp>
      <p:sp>
        <p:nvSpPr>
          <p:cNvPr id="13" name="featpaper-node:3:17"/>
          <p:cNvSpPr/>
          <p:nvPr/>
        </p:nvSpPr>
        <p:spPr>
          <a:xfrm>
            <a:off x="18072100" y="3765208"/>
            <a:ext cx="6357620" cy="457200"/>
          </a:xfrm>
          <a:prstGeom prst="rect">
            <a:avLst/>
          </a:prstGeom>
          <a:noFill/>
          <a:ln/>
        </p:spPr>
        <p:txBody>
          <a:bodyPr wrap="none" lIns="0" tIns="0" rIns="0" bIns="0" rtlCol="0" anchor="t"/>
          <a:lstStyle/>
          <a:p>
            <a:pPr marL="0" indent="0" algn="l">
              <a:lnSpc>
                <a:spcPts val="3600"/>
              </a:lnSpc>
              <a:buNone/>
            </a:pPr>
            <a:r>
              <a:rPr lang="en-US" sz="3000" kern="0" spc="-33" dirty="0">
                <a:solidFill>
                  <a:srgbClr val="E1D7D0"/>
                </a:solidFill>
                <a:latin typeface="Inter" pitchFamily="34" charset="0"/>
                <a:ea typeface="Inter" pitchFamily="34" charset="-122"/>
                <a:cs typeface="Inter" pitchFamily="34" charset="-120"/>
              </a:rPr>
              <a:t>Average of Free on Board is (5.3$)</a:t>
            </a:r>
            <a:endParaRPr lang="en-US" sz="3000" dirty="0"/>
          </a:p>
        </p:txBody>
      </p:sp>
      <p:sp>
        <p:nvSpPr>
          <p:cNvPr id="14" name="featpaper-node:3:18"/>
          <p:cNvSpPr/>
          <p:nvPr/>
        </p:nvSpPr>
        <p:spPr>
          <a:xfrm>
            <a:off x="1663700" y="7229902"/>
            <a:ext cx="15654020" cy="533400"/>
          </a:xfrm>
          <a:prstGeom prst="rect">
            <a:avLst/>
          </a:prstGeom>
          <a:noFill/>
          <a:ln/>
        </p:spPr>
        <p:txBody>
          <a:bodyPr wrap="none" lIns="0" tIns="0" rIns="0" bIns="0" rtlCol="0" anchor="t"/>
          <a:lstStyle/>
          <a:p>
            <a:pPr marL="0" indent="0" algn="l">
              <a:lnSpc>
                <a:spcPts val="4200"/>
              </a:lnSpc>
              <a:buNone/>
            </a:pPr>
            <a:r>
              <a:rPr lang="en-US" sz="3500" kern="0" spc="-39" dirty="0">
                <a:solidFill>
                  <a:srgbClr val="E1D7D0"/>
                </a:solidFill>
                <a:latin typeface="Inter" pitchFamily="34" charset="0"/>
                <a:ea typeface="Inter" pitchFamily="34" charset="-122"/>
                <a:cs typeface="Inter" pitchFamily="34" charset="-120"/>
              </a:rPr>
              <a:t>Customer George, Next, Primark is Down Year Over Year Turnover Growth  </a:t>
            </a:r>
            <a:endParaRPr lang="en-US" sz="3500" dirty="0"/>
          </a:p>
        </p:txBody>
      </p:sp>
      <p:sp>
        <p:nvSpPr>
          <p:cNvPr id="15" name="featpaper-node:5:70"/>
          <p:cNvSpPr/>
          <p:nvPr/>
        </p:nvSpPr>
        <p:spPr>
          <a:xfrm>
            <a:off x="1663700" y="9896901"/>
            <a:ext cx="15654020" cy="533400"/>
          </a:xfrm>
          <a:prstGeom prst="rect">
            <a:avLst/>
          </a:prstGeom>
          <a:noFill/>
          <a:ln/>
        </p:spPr>
        <p:txBody>
          <a:bodyPr wrap="none" lIns="0" tIns="0" rIns="0" bIns="0" rtlCol="0" anchor="t"/>
          <a:lstStyle/>
          <a:p>
            <a:pPr marL="0" indent="0" algn="l">
              <a:lnSpc>
                <a:spcPts val="4200"/>
              </a:lnSpc>
              <a:buNone/>
            </a:pPr>
            <a:r>
              <a:rPr lang="en-US" sz="3500" kern="0" spc="-39" dirty="0">
                <a:solidFill>
                  <a:srgbClr val="E1D7D0"/>
                </a:solidFill>
                <a:latin typeface="Inter" pitchFamily="34" charset="0"/>
                <a:ea typeface="Inter" pitchFamily="34" charset="-122"/>
                <a:cs typeface="Inter" pitchFamily="34" charset="-120"/>
              </a:rPr>
              <a:t>Category Hoodies, T-Shirt is Down Year Over Year Turnover Growth  </a:t>
            </a:r>
            <a:endParaRPr lang="en-US" sz="3500" dirty="0"/>
          </a:p>
        </p:txBody>
      </p:sp>
      <p:sp>
        <p:nvSpPr>
          <p:cNvPr id="16" name="featpaper-node:5:74"/>
          <p:cNvSpPr/>
          <p:nvPr/>
        </p:nvSpPr>
        <p:spPr>
          <a:xfrm>
            <a:off x="1663700" y="11217701"/>
            <a:ext cx="15654020" cy="533400"/>
          </a:xfrm>
          <a:prstGeom prst="rect">
            <a:avLst/>
          </a:prstGeom>
          <a:noFill/>
          <a:ln/>
        </p:spPr>
        <p:txBody>
          <a:bodyPr wrap="none" lIns="0" tIns="0" rIns="0" bIns="0" rtlCol="0" anchor="t"/>
          <a:lstStyle/>
          <a:p>
            <a:pPr marL="0" indent="0" algn="l">
              <a:lnSpc>
                <a:spcPts val="4200"/>
              </a:lnSpc>
              <a:buNone/>
            </a:pPr>
            <a:r>
              <a:rPr lang="en-US" sz="3500" kern="0" spc="-39" dirty="0">
                <a:solidFill>
                  <a:srgbClr val="E1D7D0"/>
                </a:solidFill>
                <a:latin typeface="Inter" pitchFamily="34" charset="0"/>
                <a:ea typeface="Inter" pitchFamily="34" charset="-122"/>
                <a:cs typeface="Inter" pitchFamily="34" charset="-120"/>
              </a:rPr>
              <a:t>Style Athletic, Padded Jacket is Down Year Over Year Turnover Growth  </a:t>
            </a:r>
            <a:endParaRPr lang="en-US" sz="3500" dirty="0"/>
          </a:p>
        </p:txBody>
      </p:sp>
      <p:sp>
        <p:nvSpPr>
          <p:cNvPr id="17" name="featpaper-node:5:72"/>
          <p:cNvSpPr/>
          <p:nvPr/>
        </p:nvSpPr>
        <p:spPr>
          <a:xfrm>
            <a:off x="1663700" y="10557301"/>
            <a:ext cx="15654020" cy="533400"/>
          </a:xfrm>
          <a:prstGeom prst="rect">
            <a:avLst/>
          </a:prstGeom>
          <a:noFill/>
          <a:ln/>
        </p:spPr>
        <p:txBody>
          <a:bodyPr wrap="none" lIns="0" tIns="0" rIns="0" bIns="0" rtlCol="0" anchor="t"/>
          <a:lstStyle/>
          <a:p>
            <a:pPr marL="0" indent="0" algn="l">
              <a:lnSpc>
                <a:spcPts val="4200"/>
              </a:lnSpc>
              <a:buNone/>
            </a:pPr>
            <a:r>
              <a:rPr lang="en-US" sz="3500" kern="0" spc="-39" dirty="0">
                <a:solidFill>
                  <a:srgbClr val="E1D7D0"/>
                </a:solidFill>
                <a:latin typeface="Inter" pitchFamily="34" charset="0"/>
                <a:ea typeface="Inter" pitchFamily="34" charset="-122"/>
                <a:cs typeface="Inter" pitchFamily="34" charset="-120"/>
              </a:rPr>
              <a:t>Category Polo Shirt, T-Shirt is Up Year Over Year Turnover Growth  </a:t>
            </a:r>
            <a:endParaRPr lang="en-US" sz="3500" dirty="0"/>
          </a:p>
        </p:txBody>
      </p:sp>
      <p:sp>
        <p:nvSpPr>
          <p:cNvPr id="18" name="featpaper-node:5:78"/>
          <p:cNvSpPr/>
          <p:nvPr/>
        </p:nvSpPr>
        <p:spPr>
          <a:xfrm>
            <a:off x="1663700" y="11954301"/>
            <a:ext cx="10713720" cy="533400"/>
          </a:xfrm>
          <a:prstGeom prst="rect">
            <a:avLst/>
          </a:prstGeom>
          <a:noFill/>
          <a:ln/>
        </p:spPr>
        <p:txBody>
          <a:bodyPr wrap="none" lIns="0" tIns="0" rIns="0" bIns="0" rtlCol="0" anchor="t"/>
          <a:lstStyle/>
          <a:p>
            <a:pPr marL="0" indent="0" algn="l">
              <a:lnSpc>
                <a:spcPts val="4200"/>
              </a:lnSpc>
              <a:buNone/>
            </a:pPr>
            <a:r>
              <a:rPr lang="en-US" sz="3500" kern="0" spc="-39" dirty="0">
                <a:solidFill>
                  <a:srgbClr val="E1D7D0"/>
                </a:solidFill>
                <a:latin typeface="Inter" pitchFamily="34" charset="0"/>
                <a:ea typeface="Inter" pitchFamily="34" charset="-122"/>
                <a:cs typeface="Inter" pitchFamily="34" charset="-120"/>
              </a:rPr>
              <a:t>Country is High Pieces UK and Low Pieces Ireland</a:t>
            </a:r>
            <a:endParaRPr lang="en-US" sz="3500" dirty="0"/>
          </a:p>
        </p:txBody>
      </p:sp>
      <p:sp>
        <p:nvSpPr>
          <p:cNvPr id="19" name="featpaper-node:5:66"/>
          <p:cNvSpPr/>
          <p:nvPr/>
        </p:nvSpPr>
        <p:spPr>
          <a:xfrm>
            <a:off x="1663700" y="8538002"/>
            <a:ext cx="17241520" cy="533400"/>
          </a:xfrm>
          <a:prstGeom prst="rect">
            <a:avLst/>
          </a:prstGeom>
          <a:noFill/>
          <a:ln/>
        </p:spPr>
        <p:txBody>
          <a:bodyPr wrap="none" lIns="0" tIns="0" rIns="0" bIns="0" rtlCol="0" anchor="t"/>
          <a:lstStyle/>
          <a:p>
            <a:pPr marL="0" indent="0" algn="l">
              <a:lnSpc>
                <a:spcPts val="4200"/>
              </a:lnSpc>
              <a:buNone/>
            </a:pPr>
            <a:r>
              <a:rPr lang="en-US" sz="3500" kern="0" spc="-39" dirty="0">
                <a:solidFill>
                  <a:srgbClr val="E1D7D0"/>
                </a:solidFill>
                <a:latin typeface="Inter" pitchFamily="34" charset="0"/>
                <a:ea typeface="Inter" pitchFamily="34" charset="-122"/>
                <a:cs typeface="Inter" pitchFamily="34" charset="-120"/>
              </a:rPr>
              <a:t>Customer George, Mango, Primark, Target is Down Year Over Year Pieces Growth  </a:t>
            </a:r>
            <a:endParaRPr lang="en-US" sz="3500" dirty="0"/>
          </a:p>
        </p:txBody>
      </p:sp>
      <p:sp>
        <p:nvSpPr>
          <p:cNvPr id="20" name="featpaper-node:3:19"/>
          <p:cNvSpPr/>
          <p:nvPr/>
        </p:nvSpPr>
        <p:spPr>
          <a:xfrm>
            <a:off x="1663700" y="7890263"/>
            <a:ext cx="15717520" cy="533400"/>
          </a:xfrm>
          <a:prstGeom prst="rect">
            <a:avLst/>
          </a:prstGeom>
          <a:noFill/>
          <a:ln/>
        </p:spPr>
        <p:txBody>
          <a:bodyPr wrap="none" lIns="0" tIns="0" rIns="0" bIns="0" rtlCol="0" anchor="t"/>
          <a:lstStyle/>
          <a:p>
            <a:pPr marL="0" indent="0" algn="l">
              <a:lnSpc>
                <a:spcPts val="4200"/>
              </a:lnSpc>
              <a:buNone/>
            </a:pPr>
            <a:r>
              <a:rPr lang="en-US" sz="3500" kern="0" spc="-39" dirty="0">
                <a:solidFill>
                  <a:srgbClr val="E1D7D0"/>
                </a:solidFill>
                <a:latin typeface="Inter" pitchFamily="34" charset="0"/>
                <a:ea typeface="Inter" pitchFamily="34" charset="-122"/>
                <a:cs typeface="Inter" pitchFamily="34" charset="-120"/>
              </a:rPr>
              <a:t>Customer Decathlon, Carffour,  M&amp;S is Up Year Over Year Turnover Growth </a:t>
            </a:r>
            <a:endParaRPr lang="en-US" sz="3500" dirty="0"/>
          </a:p>
        </p:txBody>
      </p:sp>
      <p:sp>
        <p:nvSpPr>
          <p:cNvPr id="21" name="featpaper-node:5:68"/>
          <p:cNvSpPr/>
          <p:nvPr/>
        </p:nvSpPr>
        <p:spPr>
          <a:xfrm>
            <a:off x="1701800" y="9236463"/>
            <a:ext cx="15717520" cy="533400"/>
          </a:xfrm>
          <a:prstGeom prst="rect">
            <a:avLst/>
          </a:prstGeom>
          <a:noFill/>
          <a:ln/>
        </p:spPr>
        <p:txBody>
          <a:bodyPr wrap="none" lIns="0" tIns="0" rIns="0" bIns="0" rtlCol="0" anchor="t"/>
          <a:lstStyle/>
          <a:p>
            <a:pPr marL="0" indent="0" algn="l">
              <a:lnSpc>
                <a:spcPts val="4200"/>
              </a:lnSpc>
              <a:buNone/>
            </a:pPr>
            <a:r>
              <a:rPr lang="en-US" sz="3500" kern="0" spc="-39" dirty="0">
                <a:solidFill>
                  <a:srgbClr val="E1D7D0"/>
                </a:solidFill>
                <a:latin typeface="Inter" pitchFamily="34" charset="0"/>
                <a:ea typeface="Inter" pitchFamily="34" charset="-122"/>
                <a:cs typeface="Inter" pitchFamily="34" charset="-120"/>
              </a:rPr>
              <a:t>Customer Decathlon, Carffour, Zara is Up Year Over Year Pieces Growth </a:t>
            </a:r>
            <a:endParaRPr lang="en-US" sz="3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87293"/>
        </a:solidFill>
        <a:effectLst/>
      </p:bgPr>
    </p:bg>
    <p:spTree>
      <p:nvGrpSpPr>
        <p:cNvPr id="1" name=""/>
        <p:cNvGrpSpPr/>
        <p:nvPr/>
      </p:nvGrpSpPr>
      <p:grpSpPr>
        <a:xfrm>
          <a:off x="0" y="0"/>
          <a:ext cx="0" cy="0"/>
          <a:chOff x="0" y="0"/>
          <a:chExt cx="0" cy="0"/>
        </a:xfrm>
      </p:grpSpPr>
      <p:pic>
        <p:nvPicPr>
          <p:cNvPr id="2" name="featpaper-node:3:21" descr="5"/>
          <p:cNvPicPr>
            <a:picLocks noChangeAspect="1"/>
          </p:cNvPicPr>
          <p:nvPr/>
        </p:nvPicPr>
        <p:blipFill>
          <a:blip r:embed="rId3"/>
          <a:stretch>
            <a:fillRect/>
          </a:stretch>
        </p:blipFill>
        <p:spPr>
          <a:xfrm>
            <a:off x="0" y="0"/>
            <a:ext cx="24384000" cy="13716000"/>
          </a:xfrm>
          <a:prstGeom prst="rect">
            <a:avLst/>
          </a:prstGeom>
        </p:spPr>
      </p:pic>
      <p:pic>
        <p:nvPicPr>
          <p:cNvPr id="3" name="featpaper-node:3:22" descr="Ellipse 6"/>
          <p:cNvPicPr>
            <a:picLocks noChangeAspect="1"/>
          </p:cNvPicPr>
          <p:nvPr/>
        </p:nvPicPr>
        <p:blipFill>
          <a:blip r:embed="rId4"/>
          <a:stretch>
            <a:fillRect/>
          </a:stretch>
        </p:blipFill>
        <p:spPr>
          <a:xfrm>
            <a:off x="2916622" y="0"/>
            <a:ext cx="20696634" cy="13716000"/>
          </a:xfrm>
          <a:prstGeom prst="rect">
            <a:avLst/>
          </a:prstGeom>
        </p:spPr>
      </p:pic>
      <p:sp>
        <p:nvSpPr>
          <p:cNvPr id="4" name="featpaper-node:3:23"/>
          <p:cNvSpPr/>
          <p:nvPr/>
        </p:nvSpPr>
        <p:spPr>
          <a:xfrm>
            <a:off x="1295400" y="914400"/>
            <a:ext cx="10231120" cy="1219200"/>
          </a:xfrm>
          <a:prstGeom prst="rect">
            <a:avLst/>
          </a:prstGeom>
          <a:noFill/>
          <a:ln/>
        </p:spPr>
        <p:txBody>
          <a:bodyPr wrap="none" lIns="0" tIns="0" rIns="0" bIns="0" rtlCol="0" anchor="t"/>
          <a:lstStyle/>
          <a:p>
            <a:pPr marL="0" indent="0" algn="l">
              <a:lnSpc>
                <a:spcPts val="9600"/>
              </a:lnSpc>
              <a:buNone/>
            </a:pPr>
            <a:r>
              <a:rPr lang="en-US" sz="8000" kern="0" spc="-88" dirty="0">
                <a:solidFill>
                  <a:srgbClr val="E1D7D0"/>
                </a:solidFill>
                <a:latin typeface="Inter" pitchFamily="34" charset="0"/>
                <a:ea typeface="Inter" pitchFamily="34" charset="-122"/>
                <a:cs typeface="Inter" pitchFamily="34" charset="-120"/>
              </a:rPr>
              <a:t>Style Dashboard</a:t>
            </a:r>
            <a:endParaRPr lang="en-US" sz="8000" dirty="0"/>
          </a:p>
        </p:txBody>
      </p:sp>
      <p:sp>
        <p:nvSpPr>
          <p:cNvPr id="5" name="featpaper-node:3:24"/>
          <p:cNvSpPr/>
          <p:nvPr/>
        </p:nvSpPr>
        <p:spPr>
          <a:xfrm>
            <a:off x="1701800" y="2563063"/>
            <a:ext cx="1938020" cy="762000"/>
          </a:xfrm>
          <a:prstGeom prst="rect">
            <a:avLst/>
          </a:prstGeom>
          <a:noFill/>
          <a:ln/>
        </p:spPr>
        <p:txBody>
          <a:bodyPr wrap="none" lIns="0" tIns="0" rIns="0" bIns="0" rtlCol="0" anchor="t"/>
          <a:lstStyle/>
          <a:p>
            <a:pPr marL="0" indent="0" algn="l">
              <a:lnSpc>
                <a:spcPts val="6000"/>
              </a:lnSpc>
              <a:buNone/>
            </a:pPr>
            <a:r>
              <a:rPr lang="en-US" sz="5000" kern="0" spc="-55" dirty="0">
                <a:solidFill>
                  <a:srgbClr val="E1D7D0"/>
                </a:solidFill>
                <a:latin typeface="Inter" pitchFamily="34" charset="0"/>
                <a:ea typeface="Inter" pitchFamily="34" charset="-122"/>
                <a:cs typeface="Inter" pitchFamily="34" charset="-120"/>
              </a:rPr>
              <a:t>KPIS:</a:t>
            </a:r>
            <a:endParaRPr lang="en-US" sz="5000" dirty="0"/>
          </a:p>
        </p:txBody>
      </p:sp>
      <p:sp>
        <p:nvSpPr>
          <p:cNvPr id="6" name="featpaper-node:3:25"/>
          <p:cNvSpPr/>
          <p:nvPr/>
        </p:nvSpPr>
        <p:spPr>
          <a:xfrm>
            <a:off x="1701800" y="5065188"/>
            <a:ext cx="2319020" cy="762000"/>
          </a:xfrm>
          <a:prstGeom prst="rect">
            <a:avLst/>
          </a:prstGeom>
          <a:noFill/>
          <a:ln/>
        </p:spPr>
        <p:txBody>
          <a:bodyPr wrap="none" lIns="0" tIns="0" rIns="0" bIns="0" rtlCol="0" anchor="t"/>
          <a:lstStyle/>
          <a:p>
            <a:pPr marL="0" indent="0" algn="l">
              <a:lnSpc>
                <a:spcPts val="6000"/>
              </a:lnSpc>
              <a:buNone/>
            </a:pPr>
            <a:r>
              <a:rPr lang="en-US" sz="5000" kern="0" spc="-55" dirty="0">
                <a:solidFill>
                  <a:srgbClr val="E1D7D0"/>
                </a:solidFill>
                <a:latin typeface="Inter" pitchFamily="34" charset="0"/>
                <a:ea typeface="Inter" pitchFamily="34" charset="-122"/>
                <a:cs typeface="Inter" pitchFamily="34" charset="-120"/>
              </a:rPr>
              <a:t>Insight: </a:t>
            </a:r>
            <a:endParaRPr lang="en-US" sz="5000" dirty="0"/>
          </a:p>
        </p:txBody>
      </p:sp>
      <p:sp>
        <p:nvSpPr>
          <p:cNvPr id="7" name="featpaper-node:3:27"/>
          <p:cNvSpPr/>
          <p:nvPr/>
        </p:nvSpPr>
        <p:spPr>
          <a:xfrm>
            <a:off x="1701800" y="5990827"/>
            <a:ext cx="21711920" cy="1066800"/>
          </a:xfrm>
          <a:prstGeom prst="rect">
            <a:avLst/>
          </a:prstGeom>
          <a:noFill/>
          <a:ln/>
        </p:spPr>
        <p:txBody>
          <a:bodyPr wrap="square" lIns="0" tIns="0" rIns="0" bIns="0" rtlCol="0" anchor="t"/>
          <a:lstStyle/>
          <a:p>
            <a:pPr marL="0" indent="0" algn="l">
              <a:lnSpc>
                <a:spcPts val="4200"/>
              </a:lnSpc>
              <a:buNone/>
            </a:pPr>
            <a:r>
              <a:rPr lang="en-US" sz="3500" kern="0" spc="-39" dirty="0">
                <a:solidFill>
                  <a:srgbClr val="E1D7D0"/>
                </a:solidFill>
                <a:latin typeface="Inter" pitchFamily="34" charset="0"/>
                <a:ea typeface="Inter" pitchFamily="34" charset="-122"/>
                <a:cs typeface="Inter" pitchFamily="34" charset="-120"/>
              </a:rPr>
              <a:t>Style Athletic Shorts is Highest Turnover by 32.2$ Millions and Oversized Sweatshirt is Lowest Turnover by 226.7$ Millions</a:t>
            </a:r>
            <a:endParaRPr lang="en-US" sz="3500" dirty="0"/>
          </a:p>
        </p:txBody>
      </p:sp>
      <p:sp>
        <p:nvSpPr>
          <p:cNvPr id="8" name="featpaper-node:3:28"/>
          <p:cNvSpPr/>
          <p:nvPr/>
        </p:nvSpPr>
        <p:spPr>
          <a:xfrm>
            <a:off x="1701800" y="7445802"/>
            <a:ext cx="22346920" cy="533400"/>
          </a:xfrm>
          <a:prstGeom prst="rect">
            <a:avLst/>
          </a:prstGeom>
          <a:noFill/>
          <a:ln/>
        </p:spPr>
        <p:txBody>
          <a:bodyPr wrap="none" lIns="0" tIns="0" rIns="0" bIns="0" rtlCol="0" anchor="t"/>
          <a:lstStyle/>
          <a:p>
            <a:pPr marL="0" indent="0" algn="l">
              <a:lnSpc>
                <a:spcPts val="4200"/>
              </a:lnSpc>
              <a:buNone/>
            </a:pPr>
            <a:r>
              <a:rPr lang="en-US" sz="3500" kern="0" spc="-39" dirty="0">
                <a:solidFill>
                  <a:srgbClr val="E1D7D0"/>
                </a:solidFill>
                <a:latin typeface="Inter" pitchFamily="34" charset="0"/>
                <a:ea typeface="Inter" pitchFamily="34" charset="-122"/>
                <a:cs typeface="Inter" pitchFamily="34" charset="-120"/>
              </a:rPr>
              <a:t>Style Athletic Shorts is Highest Pieces 5.9 Millions and Style Padded Jacket is Lowest Pieces by 5.1 Millions </a:t>
            </a:r>
            <a:endParaRPr lang="en-US" sz="3500" dirty="0"/>
          </a:p>
        </p:txBody>
      </p:sp>
      <p:sp>
        <p:nvSpPr>
          <p:cNvPr id="9" name="featpaper-node:3:30"/>
          <p:cNvSpPr/>
          <p:nvPr/>
        </p:nvSpPr>
        <p:spPr>
          <a:xfrm>
            <a:off x="20116800" y="12595127"/>
            <a:ext cx="3627120" cy="482600"/>
          </a:xfrm>
          <a:prstGeom prst="rect">
            <a:avLst/>
          </a:prstGeom>
          <a:noFill/>
          <a:ln/>
        </p:spPr>
        <p:txBody>
          <a:bodyPr wrap="none" lIns="0" tIns="0" rIns="0" bIns="0" rtlCol="0" anchor="t"/>
          <a:lstStyle/>
          <a:p>
            <a:pPr marL="0" indent="0" algn="r">
              <a:lnSpc>
                <a:spcPts val="3807"/>
              </a:lnSpc>
              <a:buNone/>
            </a:pPr>
            <a:r>
              <a:rPr lang="en-US" sz="2538" kern="0" spc="-28" dirty="0">
                <a:solidFill>
                  <a:srgbClr val="FFFFFF"/>
                </a:solidFill>
                <a:latin typeface="Inter" pitchFamily="34" charset="0"/>
                <a:ea typeface="Inter" pitchFamily="34" charset="-122"/>
                <a:cs typeface="Inter" pitchFamily="34" charset="-120"/>
              </a:rPr>
              <a:t>Page | 5</a:t>
            </a:r>
            <a:endParaRPr lang="en-US" sz="2538" dirty="0"/>
          </a:p>
        </p:txBody>
      </p:sp>
      <p:sp>
        <p:nvSpPr>
          <p:cNvPr id="10" name="featpaper-node:3:32"/>
          <p:cNvSpPr/>
          <p:nvPr/>
        </p:nvSpPr>
        <p:spPr>
          <a:xfrm>
            <a:off x="11645900" y="3765208"/>
            <a:ext cx="6357620" cy="457200"/>
          </a:xfrm>
          <a:prstGeom prst="rect">
            <a:avLst/>
          </a:prstGeom>
          <a:noFill/>
          <a:ln/>
        </p:spPr>
        <p:txBody>
          <a:bodyPr wrap="none" lIns="0" tIns="0" rIns="0" bIns="0" rtlCol="0" anchor="t"/>
          <a:lstStyle/>
          <a:p>
            <a:pPr marL="0" indent="0" algn="l">
              <a:lnSpc>
                <a:spcPts val="3600"/>
              </a:lnSpc>
              <a:buNone/>
            </a:pPr>
            <a:r>
              <a:rPr lang="en-US" sz="3000" kern="0" spc="-33" dirty="0">
                <a:solidFill>
                  <a:srgbClr val="E1D7D0"/>
                </a:solidFill>
                <a:latin typeface="Inter" pitchFamily="34" charset="0"/>
                <a:ea typeface="Inter" pitchFamily="34" charset="-122"/>
                <a:cs typeface="Inter" pitchFamily="34" charset="-120"/>
              </a:rPr>
              <a:t>Average of Free on Board is (5.3$)</a:t>
            </a:r>
            <a:endParaRPr lang="en-US" sz="3000" dirty="0"/>
          </a:p>
        </p:txBody>
      </p:sp>
      <p:sp>
        <p:nvSpPr>
          <p:cNvPr id="11" name="featpaper-node:14:263"/>
          <p:cNvSpPr/>
          <p:nvPr/>
        </p:nvSpPr>
        <p:spPr>
          <a:xfrm>
            <a:off x="18313400" y="3743375"/>
            <a:ext cx="6116320" cy="457200"/>
          </a:xfrm>
          <a:prstGeom prst="rect">
            <a:avLst/>
          </a:prstGeom>
          <a:noFill/>
          <a:ln/>
        </p:spPr>
        <p:txBody>
          <a:bodyPr wrap="none" lIns="0" tIns="0" rIns="0" bIns="0" rtlCol="0" anchor="t"/>
          <a:lstStyle/>
          <a:p>
            <a:pPr marL="0" indent="0" algn="l">
              <a:lnSpc>
                <a:spcPts val="3600"/>
              </a:lnSpc>
              <a:buNone/>
            </a:pPr>
            <a:r>
              <a:rPr lang="en-US" sz="3000" kern="0" spc="-33" dirty="0">
                <a:solidFill>
                  <a:srgbClr val="E1D7D0"/>
                </a:solidFill>
                <a:latin typeface="Inter" pitchFamily="34" charset="0"/>
                <a:ea typeface="Inter" pitchFamily="34" charset="-122"/>
                <a:cs typeface="Inter" pitchFamily="34" charset="-120"/>
              </a:rPr>
              <a:t>Turnover Growth is (51.46%)</a:t>
            </a:r>
            <a:endParaRPr lang="en-US" sz="3000" dirty="0"/>
          </a:p>
        </p:txBody>
      </p:sp>
      <p:sp>
        <p:nvSpPr>
          <p:cNvPr id="12" name="featpaper-node:3:33"/>
          <p:cNvSpPr/>
          <p:nvPr/>
        </p:nvSpPr>
        <p:spPr>
          <a:xfrm>
            <a:off x="1663700" y="8378427"/>
            <a:ext cx="19768820" cy="533400"/>
          </a:xfrm>
          <a:prstGeom prst="rect">
            <a:avLst/>
          </a:prstGeom>
          <a:noFill/>
          <a:ln/>
        </p:spPr>
        <p:txBody>
          <a:bodyPr wrap="none" lIns="0" tIns="0" rIns="0" bIns="0" rtlCol="0" anchor="t"/>
          <a:lstStyle/>
          <a:p>
            <a:pPr marL="0" indent="0" algn="l">
              <a:lnSpc>
                <a:spcPts val="4200"/>
              </a:lnSpc>
              <a:buNone/>
            </a:pPr>
            <a:r>
              <a:rPr lang="en-US" sz="3500" kern="0" spc="-39" dirty="0">
                <a:solidFill>
                  <a:srgbClr val="E1D7D0"/>
                </a:solidFill>
                <a:latin typeface="Inter" pitchFamily="34" charset="0"/>
                <a:ea typeface="Inter" pitchFamily="34" charset="-122"/>
                <a:cs typeface="Inter" pitchFamily="34" charset="-120"/>
              </a:rPr>
              <a:t>Style Athletic Shorts is Highest FOB by 4$ Khiloi and Fashion Tee is Lowest FOB by 2.2$ Khiloi  </a:t>
            </a:r>
            <a:endParaRPr lang="en-US" sz="3500" dirty="0"/>
          </a:p>
        </p:txBody>
      </p:sp>
      <p:sp>
        <p:nvSpPr>
          <p:cNvPr id="13" name="featpaper-node:3:34"/>
          <p:cNvSpPr/>
          <p:nvPr/>
        </p:nvSpPr>
        <p:spPr>
          <a:xfrm>
            <a:off x="1663700" y="9325402"/>
            <a:ext cx="14930120" cy="533400"/>
          </a:xfrm>
          <a:prstGeom prst="rect">
            <a:avLst/>
          </a:prstGeom>
          <a:noFill/>
          <a:ln/>
        </p:spPr>
        <p:txBody>
          <a:bodyPr wrap="none" lIns="0" tIns="0" rIns="0" bIns="0" rtlCol="0" anchor="t"/>
          <a:lstStyle/>
          <a:p>
            <a:pPr marL="0" indent="0" algn="l">
              <a:lnSpc>
                <a:spcPts val="4200"/>
              </a:lnSpc>
              <a:buNone/>
            </a:pPr>
            <a:r>
              <a:rPr lang="en-US" sz="3500" kern="0" spc="-39" dirty="0">
                <a:solidFill>
                  <a:srgbClr val="E1D7D0"/>
                </a:solidFill>
                <a:latin typeface="Inter" pitchFamily="34" charset="0"/>
                <a:ea typeface="Inter" pitchFamily="34" charset="-122"/>
                <a:cs typeface="Inter" pitchFamily="34" charset="-120"/>
              </a:rPr>
              <a:t>Style Athletic, Padded Jacket Shorts is Down Turnover Year Over Year </a:t>
            </a:r>
            <a:endParaRPr lang="en-US" sz="3500" dirty="0"/>
          </a:p>
        </p:txBody>
      </p:sp>
      <p:sp>
        <p:nvSpPr>
          <p:cNvPr id="14" name="featpaper-node:14:259"/>
          <p:cNvSpPr/>
          <p:nvPr/>
        </p:nvSpPr>
        <p:spPr>
          <a:xfrm>
            <a:off x="1701800" y="3765208"/>
            <a:ext cx="5976620" cy="914400"/>
          </a:xfrm>
          <a:prstGeom prst="rect">
            <a:avLst/>
          </a:prstGeom>
          <a:noFill/>
          <a:ln/>
        </p:spPr>
        <p:txBody>
          <a:bodyPr wrap="square" lIns="0" tIns="0" rIns="0" bIns="0" rtlCol="0" anchor="t"/>
          <a:lstStyle/>
          <a:p>
            <a:pPr marL="0" indent="0" algn="l">
              <a:lnSpc>
                <a:spcPts val="3600"/>
              </a:lnSpc>
              <a:buNone/>
            </a:pPr>
            <a:r>
              <a:rPr lang="en-US" sz="3000" kern="0" spc="-33" dirty="0">
                <a:solidFill>
                  <a:srgbClr val="E1D7D0"/>
                </a:solidFill>
                <a:latin typeface="Inter" pitchFamily="34" charset="0"/>
                <a:ea typeface="Inter" pitchFamily="34" charset="-122"/>
                <a:cs typeface="Inter" pitchFamily="34" charset="-120"/>
              </a:rPr>
              <a:t>Total Turnover is (393.7 $) Millions </a:t>
            </a:r>
            <a:endParaRPr lang="en-US" sz="3000" dirty="0"/>
          </a:p>
        </p:txBody>
      </p:sp>
      <p:sp>
        <p:nvSpPr>
          <p:cNvPr id="15" name="featpaper-node:14:261"/>
          <p:cNvSpPr/>
          <p:nvPr/>
        </p:nvSpPr>
        <p:spPr>
          <a:xfrm>
            <a:off x="6565900" y="3743375"/>
            <a:ext cx="5125720" cy="457200"/>
          </a:xfrm>
          <a:prstGeom prst="rect">
            <a:avLst/>
          </a:prstGeom>
          <a:noFill/>
          <a:ln/>
        </p:spPr>
        <p:txBody>
          <a:bodyPr wrap="none" lIns="0" tIns="0" rIns="0" bIns="0" rtlCol="0" anchor="t"/>
          <a:lstStyle/>
          <a:p>
            <a:pPr marL="0" indent="0" algn="l">
              <a:lnSpc>
                <a:spcPts val="3600"/>
              </a:lnSpc>
              <a:buNone/>
            </a:pPr>
            <a:r>
              <a:rPr lang="en-US" sz="3000" kern="0" spc="-33" dirty="0">
                <a:solidFill>
                  <a:srgbClr val="E1D7D0"/>
                </a:solidFill>
                <a:latin typeface="Inter" pitchFamily="34" charset="0"/>
                <a:ea typeface="Inter" pitchFamily="34" charset="-122"/>
                <a:cs typeface="Inter" pitchFamily="34" charset="-120"/>
              </a:rPr>
              <a:t>Total Pieces is (75) Millions</a:t>
            </a:r>
            <a:endParaRPr lang="en-US" sz="3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87293"/>
        </a:solidFill>
        <a:effectLst/>
      </p:bgPr>
    </p:bg>
    <p:spTree>
      <p:nvGrpSpPr>
        <p:cNvPr id="1" name=""/>
        <p:cNvGrpSpPr/>
        <p:nvPr/>
      </p:nvGrpSpPr>
      <p:grpSpPr>
        <a:xfrm>
          <a:off x="0" y="0"/>
          <a:ext cx="0" cy="0"/>
          <a:chOff x="0" y="0"/>
          <a:chExt cx="0" cy="0"/>
        </a:xfrm>
      </p:grpSpPr>
      <p:pic>
        <p:nvPicPr>
          <p:cNvPr id="2" name="featpaper-node:3:36" descr="6"/>
          <p:cNvPicPr>
            <a:picLocks noChangeAspect="1"/>
          </p:cNvPicPr>
          <p:nvPr/>
        </p:nvPicPr>
        <p:blipFill>
          <a:blip r:embed="rId3"/>
          <a:stretch>
            <a:fillRect/>
          </a:stretch>
        </p:blipFill>
        <p:spPr>
          <a:xfrm>
            <a:off x="0" y="0"/>
            <a:ext cx="24384000" cy="13716000"/>
          </a:xfrm>
          <a:prstGeom prst="rect">
            <a:avLst/>
          </a:prstGeom>
        </p:spPr>
      </p:pic>
      <p:pic>
        <p:nvPicPr>
          <p:cNvPr id="3" name="featpaper-node:3:37" descr="Ellipse 6"/>
          <p:cNvPicPr>
            <a:picLocks noChangeAspect="1"/>
          </p:cNvPicPr>
          <p:nvPr/>
        </p:nvPicPr>
        <p:blipFill>
          <a:blip r:embed="rId4"/>
          <a:stretch>
            <a:fillRect/>
          </a:stretch>
        </p:blipFill>
        <p:spPr>
          <a:xfrm>
            <a:off x="2916622" y="0"/>
            <a:ext cx="20696634" cy="13716000"/>
          </a:xfrm>
          <a:prstGeom prst="rect">
            <a:avLst/>
          </a:prstGeom>
        </p:spPr>
      </p:pic>
      <p:sp>
        <p:nvSpPr>
          <p:cNvPr id="4" name="featpaper-node:3:38"/>
          <p:cNvSpPr/>
          <p:nvPr/>
        </p:nvSpPr>
        <p:spPr>
          <a:xfrm>
            <a:off x="1295400" y="914400"/>
            <a:ext cx="10726420" cy="1219200"/>
          </a:xfrm>
          <a:prstGeom prst="rect">
            <a:avLst/>
          </a:prstGeom>
          <a:noFill/>
          <a:ln/>
        </p:spPr>
        <p:txBody>
          <a:bodyPr wrap="none" lIns="0" tIns="0" rIns="0" bIns="0" rtlCol="0" anchor="t"/>
          <a:lstStyle/>
          <a:p>
            <a:pPr marL="0" indent="0" algn="l">
              <a:lnSpc>
                <a:spcPts val="9600"/>
              </a:lnSpc>
              <a:buNone/>
            </a:pPr>
            <a:r>
              <a:rPr lang="en-US" sz="8000" kern="0" spc="-88" dirty="0">
                <a:solidFill>
                  <a:srgbClr val="E1D7D0"/>
                </a:solidFill>
                <a:latin typeface="Inter" pitchFamily="34" charset="0"/>
                <a:ea typeface="Inter" pitchFamily="34" charset="-122"/>
                <a:cs typeface="Inter" pitchFamily="34" charset="-120"/>
              </a:rPr>
              <a:t>Production Dashboard</a:t>
            </a:r>
            <a:endParaRPr lang="en-US" sz="8000" dirty="0"/>
          </a:p>
        </p:txBody>
      </p:sp>
      <p:sp>
        <p:nvSpPr>
          <p:cNvPr id="5" name="featpaper-node:3:39"/>
          <p:cNvSpPr/>
          <p:nvPr/>
        </p:nvSpPr>
        <p:spPr>
          <a:xfrm>
            <a:off x="1701800" y="2563063"/>
            <a:ext cx="1938020" cy="762000"/>
          </a:xfrm>
          <a:prstGeom prst="rect">
            <a:avLst/>
          </a:prstGeom>
          <a:noFill/>
          <a:ln/>
        </p:spPr>
        <p:txBody>
          <a:bodyPr wrap="none" lIns="0" tIns="0" rIns="0" bIns="0" rtlCol="0" anchor="t"/>
          <a:lstStyle/>
          <a:p>
            <a:pPr marL="0" indent="0" algn="l">
              <a:lnSpc>
                <a:spcPts val="6000"/>
              </a:lnSpc>
              <a:buNone/>
            </a:pPr>
            <a:r>
              <a:rPr lang="en-US" sz="5000" kern="0" spc="-55" dirty="0">
                <a:solidFill>
                  <a:srgbClr val="E1D7D0"/>
                </a:solidFill>
                <a:latin typeface="Inter" pitchFamily="34" charset="0"/>
                <a:ea typeface="Inter" pitchFamily="34" charset="-122"/>
                <a:cs typeface="Inter" pitchFamily="34" charset="-120"/>
              </a:rPr>
              <a:t>KPIS:</a:t>
            </a:r>
            <a:endParaRPr lang="en-US" sz="5000" dirty="0"/>
          </a:p>
        </p:txBody>
      </p:sp>
      <p:sp>
        <p:nvSpPr>
          <p:cNvPr id="6" name="featpaper-node:3:40"/>
          <p:cNvSpPr/>
          <p:nvPr/>
        </p:nvSpPr>
        <p:spPr>
          <a:xfrm>
            <a:off x="1701800" y="5065188"/>
            <a:ext cx="2319020" cy="762000"/>
          </a:xfrm>
          <a:prstGeom prst="rect">
            <a:avLst/>
          </a:prstGeom>
          <a:noFill/>
          <a:ln/>
        </p:spPr>
        <p:txBody>
          <a:bodyPr wrap="none" lIns="0" tIns="0" rIns="0" bIns="0" rtlCol="0" anchor="t"/>
          <a:lstStyle/>
          <a:p>
            <a:pPr marL="0" indent="0" algn="l">
              <a:lnSpc>
                <a:spcPts val="6000"/>
              </a:lnSpc>
              <a:buNone/>
            </a:pPr>
            <a:r>
              <a:rPr lang="en-US" sz="5000" kern="0" spc="-55" dirty="0">
                <a:solidFill>
                  <a:srgbClr val="E1D7D0"/>
                </a:solidFill>
                <a:latin typeface="Inter" pitchFamily="34" charset="0"/>
                <a:ea typeface="Inter" pitchFamily="34" charset="-122"/>
                <a:cs typeface="Inter" pitchFamily="34" charset="-120"/>
              </a:rPr>
              <a:t>Insight: </a:t>
            </a:r>
            <a:endParaRPr lang="en-US" sz="5000" dirty="0"/>
          </a:p>
        </p:txBody>
      </p:sp>
      <p:sp>
        <p:nvSpPr>
          <p:cNvPr id="7" name="featpaper-node:3:41"/>
          <p:cNvSpPr/>
          <p:nvPr/>
        </p:nvSpPr>
        <p:spPr>
          <a:xfrm>
            <a:off x="1701800" y="3743375"/>
            <a:ext cx="5570220" cy="457200"/>
          </a:xfrm>
          <a:prstGeom prst="rect">
            <a:avLst/>
          </a:prstGeom>
          <a:noFill/>
          <a:ln/>
        </p:spPr>
        <p:txBody>
          <a:bodyPr wrap="none" lIns="0" tIns="0" rIns="0" bIns="0" rtlCol="0" anchor="t"/>
          <a:lstStyle/>
          <a:p>
            <a:pPr marL="0" indent="0" algn="l">
              <a:lnSpc>
                <a:spcPts val="3600"/>
              </a:lnSpc>
              <a:buNone/>
            </a:pPr>
            <a:r>
              <a:rPr lang="en-US" sz="3000" kern="0" spc="-33" dirty="0">
                <a:solidFill>
                  <a:srgbClr val="E1D7D0"/>
                </a:solidFill>
                <a:latin typeface="Inter" pitchFamily="34" charset="0"/>
                <a:ea typeface="Inter" pitchFamily="34" charset="-122"/>
                <a:cs typeface="Inter" pitchFamily="34" charset="-120"/>
              </a:rPr>
              <a:t>Total Achievement is (91.63 %)</a:t>
            </a:r>
            <a:endParaRPr lang="en-US" sz="3000" dirty="0"/>
          </a:p>
        </p:txBody>
      </p:sp>
      <p:sp>
        <p:nvSpPr>
          <p:cNvPr id="8" name="featpaper-node:3:42"/>
          <p:cNvSpPr/>
          <p:nvPr/>
        </p:nvSpPr>
        <p:spPr>
          <a:xfrm>
            <a:off x="1701800" y="6683802"/>
            <a:ext cx="11107420" cy="533400"/>
          </a:xfrm>
          <a:prstGeom prst="rect">
            <a:avLst/>
          </a:prstGeom>
          <a:noFill/>
          <a:ln/>
        </p:spPr>
        <p:txBody>
          <a:bodyPr wrap="none" lIns="0" tIns="0" rIns="0" bIns="0" rtlCol="0" anchor="t"/>
          <a:lstStyle/>
          <a:p>
            <a:pPr marL="0" indent="0" algn="l">
              <a:lnSpc>
                <a:spcPts val="4200"/>
              </a:lnSpc>
              <a:buNone/>
            </a:pPr>
            <a:r>
              <a:rPr lang="en-US" sz="3500" kern="0" spc="-39" dirty="0">
                <a:solidFill>
                  <a:srgbClr val="E1D7D0"/>
                </a:solidFill>
                <a:latin typeface="Inter" pitchFamily="34" charset="0"/>
                <a:ea typeface="Inter" pitchFamily="34" charset="-122"/>
                <a:cs typeface="Inter" pitchFamily="34" charset="-120"/>
              </a:rPr>
              <a:t>Unit E, Unit F The Achievement is Less Than 90%</a:t>
            </a:r>
            <a:endParaRPr lang="en-US" sz="3500" dirty="0"/>
          </a:p>
        </p:txBody>
      </p:sp>
      <p:sp>
        <p:nvSpPr>
          <p:cNvPr id="9" name="featpaper-node:3:43"/>
          <p:cNvSpPr/>
          <p:nvPr/>
        </p:nvSpPr>
        <p:spPr>
          <a:xfrm>
            <a:off x="1701800" y="7648963"/>
            <a:ext cx="14650720" cy="533400"/>
          </a:xfrm>
          <a:prstGeom prst="rect">
            <a:avLst/>
          </a:prstGeom>
          <a:noFill/>
          <a:ln/>
        </p:spPr>
        <p:txBody>
          <a:bodyPr wrap="none" lIns="0" tIns="0" rIns="0" bIns="0" rtlCol="0" anchor="t"/>
          <a:lstStyle/>
          <a:p>
            <a:pPr marL="0" indent="0" algn="l">
              <a:lnSpc>
                <a:spcPts val="4200"/>
              </a:lnSpc>
              <a:buNone/>
            </a:pPr>
            <a:r>
              <a:rPr lang="en-US" sz="3500" kern="0" spc="-39" dirty="0">
                <a:solidFill>
                  <a:srgbClr val="E1D7D0"/>
                </a:solidFill>
                <a:latin typeface="Inter" pitchFamily="34" charset="0"/>
                <a:ea typeface="Inter" pitchFamily="34" charset="-122"/>
                <a:cs typeface="Inter" pitchFamily="34" charset="-120"/>
              </a:rPr>
              <a:t>Unit B Improve Achievement By Month from January to 97.5% in June</a:t>
            </a:r>
            <a:endParaRPr lang="en-US" sz="3500" dirty="0"/>
          </a:p>
        </p:txBody>
      </p:sp>
      <p:sp>
        <p:nvSpPr>
          <p:cNvPr id="10" name="featpaper-node:3:44"/>
          <p:cNvSpPr/>
          <p:nvPr/>
        </p:nvSpPr>
        <p:spPr>
          <a:xfrm>
            <a:off x="7505700" y="3743375"/>
            <a:ext cx="4465320" cy="457200"/>
          </a:xfrm>
          <a:prstGeom prst="rect">
            <a:avLst/>
          </a:prstGeom>
          <a:noFill/>
          <a:ln/>
        </p:spPr>
        <p:txBody>
          <a:bodyPr wrap="none" lIns="0" tIns="0" rIns="0" bIns="0" rtlCol="0" anchor="t"/>
          <a:lstStyle/>
          <a:p>
            <a:pPr marL="0" indent="0" algn="l">
              <a:lnSpc>
                <a:spcPts val="3600"/>
              </a:lnSpc>
              <a:buNone/>
            </a:pPr>
            <a:r>
              <a:rPr lang="en-US" sz="3000" kern="0" spc="-33" dirty="0">
                <a:solidFill>
                  <a:srgbClr val="E1D7D0"/>
                </a:solidFill>
                <a:latin typeface="Inter" pitchFamily="34" charset="0"/>
                <a:ea typeface="Inter" pitchFamily="34" charset="-122"/>
                <a:cs typeface="Inter" pitchFamily="34" charset="-120"/>
              </a:rPr>
              <a:t>Total Planned is (5.82) M</a:t>
            </a:r>
            <a:endParaRPr lang="en-US" sz="3000" dirty="0"/>
          </a:p>
        </p:txBody>
      </p:sp>
      <p:sp>
        <p:nvSpPr>
          <p:cNvPr id="11" name="featpaper-node:3:45"/>
          <p:cNvSpPr/>
          <p:nvPr/>
        </p:nvSpPr>
        <p:spPr>
          <a:xfrm>
            <a:off x="20116800" y="12595127"/>
            <a:ext cx="3627120" cy="482600"/>
          </a:xfrm>
          <a:prstGeom prst="rect">
            <a:avLst/>
          </a:prstGeom>
          <a:noFill/>
          <a:ln/>
        </p:spPr>
        <p:txBody>
          <a:bodyPr wrap="none" lIns="0" tIns="0" rIns="0" bIns="0" rtlCol="0" anchor="t"/>
          <a:lstStyle/>
          <a:p>
            <a:pPr marL="0" indent="0" algn="r">
              <a:lnSpc>
                <a:spcPts val="3807"/>
              </a:lnSpc>
              <a:buNone/>
            </a:pPr>
            <a:r>
              <a:rPr lang="en-US" sz="2538" kern="0" spc="-28" dirty="0">
                <a:solidFill>
                  <a:srgbClr val="FFFFFF"/>
                </a:solidFill>
                <a:latin typeface="Inter" pitchFamily="34" charset="0"/>
                <a:ea typeface="Inter" pitchFamily="34" charset="-122"/>
                <a:cs typeface="Inter" pitchFamily="34" charset="-120"/>
              </a:rPr>
              <a:t>Page | 6</a:t>
            </a:r>
            <a:endParaRPr lang="en-US" sz="2538" dirty="0"/>
          </a:p>
        </p:txBody>
      </p:sp>
      <p:sp>
        <p:nvSpPr>
          <p:cNvPr id="12" name="featpaper-node:3:46"/>
          <p:cNvSpPr/>
          <p:nvPr/>
        </p:nvSpPr>
        <p:spPr>
          <a:xfrm>
            <a:off x="12192000" y="3743375"/>
            <a:ext cx="4478020" cy="457200"/>
          </a:xfrm>
          <a:prstGeom prst="rect">
            <a:avLst/>
          </a:prstGeom>
          <a:noFill/>
          <a:ln/>
        </p:spPr>
        <p:txBody>
          <a:bodyPr wrap="none" lIns="0" tIns="0" rIns="0" bIns="0" rtlCol="0" anchor="t"/>
          <a:lstStyle/>
          <a:p>
            <a:pPr marL="0" indent="0" algn="l">
              <a:lnSpc>
                <a:spcPts val="3600"/>
              </a:lnSpc>
              <a:buNone/>
            </a:pPr>
            <a:r>
              <a:rPr lang="en-US" sz="3000" kern="0" spc="-33" dirty="0">
                <a:solidFill>
                  <a:srgbClr val="E1D7D0"/>
                </a:solidFill>
                <a:latin typeface="Inter" pitchFamily="34" charset="0"/>
                <a:ea typeface="Inter" pitchFamily="34" charset="-122"/>
                <a:cs typeface="Inter" pitchFamily="34" charset="-120"/>
              </a:rPr>
              <a:t>Total Actual is (5.33) M</a:t>
            </a:r>
            <a:endParaRPr lang="en-US" sz="3000" dirty="0"/>
          </a:p>
        </p:txBody>
      </p:sp>
      <p:sp>
        <p:nvSpPr>
          <p:cNvPr id="13" name="featpaper-node:3:47"/>
          <p:cNvSpPr/>
          <p:nvPr/>
        </p:nvSpPr>
        <p:spPr>
          <a:xfrm>
            <a:off x="17386300" y="3743375"/>
            <a:ext cx="3855720" cy="457200"/>
          </a:xfrm>
          <a:prstGeom prst="rect">
            <a:avLst/>
          </a:prstGeom>
          <a:noFill/>
          <a:ln/>
        </p:spPr>
        <p:txBody>
          <a:bodyPr wrap="none" lIns="0" tIns="0" rIns="0" bIns="0" rtlCol="0" anchor="t"/>
          <a:lstStyle/>
          <a:p>
            <a:pPr marL="0" indent="0" algn="l">
              <a:lnSpc>
                <a:spcPts val="3600"/>
              </a:lnSpc>
              <a:buNone/>
            </a:pPr>
            <a:r>
              <a:rPr lang="en-US" sz="3000" kern="0" spc="-33" dirty="0">
                <a:solidFill>
                  <a:srgbClr val="E1D7D0"/>
                </a:solidFill>
                <a:latin typeface="Inter" pitchFamily="34" charset="0"/>
                <a:ea typeface="Inter" pitchFamily="34" charset="-122"/>
                <a:cs typeface="Inter" pitchFamily="34" charset="-120"/>
              </a:rPr>
              <a:t>Total Gap is (487) K</a:t>
            </a:r>
            <a:endParaRPr lang="en-US" sz="3000" dirty="0"/>
          </a:p>
        </p:txBody>
      </p:sp>
      <p:sp>
        <p:nvSpPr>
          <p:cNvPr id="14" name="featpaper-node:3:48"/>
          <p:cNvSpPr/>
          <p:nvPr/>
        </p:nvSpPr>
        <p:spPr>
          <a:xfrm>
            <a:off x="1663700" y="8741163"/>
            <a:ext cx="17139920" cy="533400"/>
          </a:xfrm>
          <a:prstGeom prst="rect">
            <a:avLst/>
          </a:prstGeom>
          <a:noFill/>
          <a:ln/>
        </p:spPr>
        <p:txBody>
          <a:bodyPr wrap="none" lIns="0" tIns="0" rIns="0" bIns="0" rtlCol="0" anchor="t"/>
          <a:lstStyle/>
          <a:p>
            <a:pPr marL="0" indent="0" algn="l">
              <a:lnSpc>
                <a:spcPts val="4200"/>
              </a:lnSpc>
              <a:buNone/>
            </a:pPr>
            <a:r>
              <a:rPr lang="en-US" sz="3500" kern="0" spc="-39" dirty="0">
                <a:solidFill>
                  <a:srgbClr val="E1D7D0"/>
                </a:solidFill>
                <a:latin typeface="Inter" pitchFamily="34" charset="0"/>
                <a:ea typeface="Inter" pitchFamily="34" charset="-122"/>
                <a:cs typeface="Inter" pitchFamily="34" charset="-120"/>
              </a:rPr>
              <a:t>Unit C is deteriorating Achievement by Month from January 97.8% to 88% in June</a:t>
            </a:r>
            <a:endParaRPr lang="en-US" sz="3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87293"/>
        </a:solidFill>
        <a:effectLst/>
      </p:bgPr>
    </p:bg>
    <p:spTree>
      <p:nvGrpSpPr>
        <p:cNvPr id="1" name=""/>
        <p:cNvGrpSpPr/>
        <p:nvPr/>
      </p:nvGrpSpPr>
      <p:grpSpPr>
        <a:xfrm>
          <a:off x="0" y="0"/>
          <a:ext cx="0" cy="0"/>
          <a:chOff x="0" y="0"/>
          <a:chExt cx="0" cy="0"/>
        </a:xfrm>
      </p:grpSpPr>
      <p:pic>
        <p:nvPicPr>
          <p:cNvPr id="2" name="featpaper-node:3:51" descr="7"/>
          <p:cNvPicPr>
            <a:picLocks noChangeAspect="1"/>
          </p:cNvPicPr>
          <p:nvPr/>
        </p:nvPicPr>
        <p:blipFill>
          <a:blip r:embed="rId3"/>
          <a:stretch>
            <a:fillRect/>
          </a:stretch>
        </p:blipFill>
        <p:spPr>
          <a:xfrm>
            <a:off x="0" y="0"/>
            <a:ext cx="24384000" cy="13716000"/>
          </a:xfrm>
          <a:prstGeom prst="rect">
            <a:avLst/>
          </a:prstGeom>
        </p:spPr>
      </p:pic>
      <p:pic>
        <p:nvPicPr>
          <p:cNvPr id="3" name="featpaper-node:3:52" descr="Ellipse 6"/>
          <p:cNvPicPr>
            <a:picLocks noChangeAspect="1"/>
          </p:cNvPicPr>
          <p:nvPr/>
        </p:nvPicPr>
        <p:blipFill>
          <a:blip r:embed="rId4"/>
          <a:stretch>
            <a:fillRect/>
          </a:stretch>
        </p:blipFill>
        <p:spPr>
          <a:xfrm>
            <a:off x="2916622" y="0"/>
            <a:ext cx="20696634" cy="13716000"/>
          </a:xfrm>
          <a:prstGeom prst="rect">
            <a:avLst/>
          </a:prstGeom>
        </p:spPr>
      </p:pic>
      <p:sp>
        <p:nvSpPr>
          <p:cNvPr id="4" name="featpaper-node:3:53"/>
          <p:cNvSpPr/>
          <p:nvPr/>
        </p:nvSpPr>
        <p:spPr>
          <a:xfrm>
            <a:off x="1295400" y="914400"/>
            <a:ext cx="10231120" cy="1219200"/>
          </a:xfrm>
          <a:prstGeom prst="rect">
            <a:avLst/>
          </a:prstGeom>
          <a:noFill/>
          <a:ln/>
        </p:spPr>
        <p:txBody>
          <a:bodyPr wrap="none" lIns="0" tIns="0" rIns="0" bIns="0" rtlCol="0" anchor="t"/>
          <a:lstStyle/>
          <a:p>
            <a:pPr marL="0" indent="0" algn="l">
              <a:lnSpc>
                <a:spcPts val="9600"/>
              </a:lnSpc>
              <a:buNone/>
            </a:pPr>
            <a:r>
              <a:rPr lang="en-US" sz="8000" kern="0" spc="-88" dirty="0">
                <a:solidFill>
                  <a:srgbClr val="E1D7D0"/>
                </a:solidFill>
                <a:latin typeface="Inter" pitchFamily="34" charset="0"/>
                <a:ea typeface="Inter" pitchFamily="34" charset="-122"/>
                <a:cs typeface="Inter" pitchFamily="34" charset="-120"/>
              </a:rPr>
              <a:t>Delivery Dashboard</a:t>
            </a:r>
            <a:endParaRPr lang="en-US" sz="8000" dirty="0"/>
          </a:p>
        </p:txBody>
      </p:sp>
      <p:sp>
        <p:nvSpPr>
          <p:cNvPr id="5" name="featpaper-node:3:54"/>
          <p:cNvSpPr/>
          <p:nvPr/>
        </p:nvSpPr>
        <p:spPr>
          <a:xfrm>
            <a:off x="1701800" y="2563063"/>
            <a:ext cx="1938020" cy="762000"/>
          </a:xfrm>
          <a:prstGeom prst="rect">
            <a:avLst/>
          </a:prstGeom>
          <a:noFill/>
          <a:ln/>
        </p:spPr>
        <p:txBody>
          <a:bodyPr wrap="none" lIns="0" tIns="0" rIns="0" bIns="0" rtlCol="0" anchor="t"/>
          <a:lstStyle/>
          <a:p>
            <a:pPr marL="0" indent="0" algn="l">
              <a:lnSpc>
                <a:spcPts val="6000"/>
              </a:lnSpc>
              <a:buNone/>
            </a:pPr>
            <a:r>
              <a:rPr lang="en-US" sz="5000" kern="0" spc="-55" dirty="0">
                <a:solidFill>
                  <a:srgbClr val="E1D7D0"/>
                </a:solidFill>
                <a:latin typeface="Inter" pitchFamily="34" charset="0"/>
                <a:ea typeface="Inter" pitchFamily="34" charset="-122"/>
                <a:cs typeface="Inter" pitchFamily="34" charset="-120"/>
              </a:rPr>
              <a:t>KPIS:</a:t>
            </a:r>
            <a:endParaRPr lang="en-US" sz="5000" dirty="0"/>
          </a:p>
        </p:txBody>
      </p:sp>
      <p:sp>
        <p:nvSpPr>
          <p:cNvPr id="6" name="featpaper-node:3:55"/>
          <p:cNvSpPr/>
          <p:nvPr/>
        </p:nvSpPr>
        <p:spPr>
          <a:xfrm>
            <a:off x="1701800" y="5065188"/>
            <a:ext cx="2319020" cy="762000"/>
          </a:xfrm>
          <a:prstGeom prst="rect">
            <a:avLst/>
          </a:prstGeom>
          <a:noFill/>
          <a:ln/>
        </p:spPr>
        <p:txBody>
          <a:bodyPr wrap="none" lIns="0" tIns="0" rIns="0" bIns="0" rtlCol="0" anchor="t"/>
          <a:lstStyle/>
          <a:p>
            <a:pPr marL="0" indent="0" algn="l">
              <a:lnSpc>
                <a:spcPts val="6000"/>
              </a:lnSpc>
              <a:buNone/>
            </a:pPr>
            <a:r>
              <a:rPr lang="en-US" sz="5000" kern="0" spc="-55" dirty="0">
                <a:solidFill>
                  <a:srgbClr val="E1D7D0"/>
                </a:solidFill>
                <a:latin typeface="Inter" pitchFamily="34" charset="0"/>
                <a:ea typeface="Inter" pitchFamily="34" charset="-122"/>
                <a:cs typeface="Inter" pitchFamily="34" charset="-120"/>
              </a:rPr>
              <a:t>Insight: </a:t>
            </a:r>
            <a:endParaRPr lang="en-US" sz="5000" dirty="0"/>
          </a:p>
        </p:txBody>
      </p:sp>
      <p:sp>
        <p:nvSpPr>
          <p:cNvPr id="7" name="featpaper-node:3:56"/>
          <p:cNvSpPr/>
          <p:nvPr/>
        </p:nvSpPr>
        <p:spPr>
          <a:xfrm>
            <a:off x="1701800" y="3743375"/>
            <a:ext cx="5240020" cy="457200"/>
          </a:xfrm>
          <a:prstGeom prst="rect">
            <a:avLst/>
          </a:prstGeom>
          <a:noFill/>
          <a:ln/>
        </p:spPr>
        <p:txBody>
          <a:bodyPr wrap="none" lIns="0" tIns="0" rIns="0" bIns="0" rtlCol="0" anchor="t"/>
          <a:lstStyle/>
          <a:p>
            <a:pPr marL="0" indent="0" algn="l">
              <a:lnSpc>
                <a:spcPts val="3600"/>
              </a:lnSpc>
              <a:buNone/>
            </a:pPr>
            <a:r>
              <a:rPr lang="en-US" sz="3000" kern="0" spc="-33" dirty="0">
                <a:solidFill>
                  <a:srgbClr val="E1D7D0"/>
                </a:solidFill>
                <a:latin typeface="Inter" pitchFamily="34" charset="0"/>
                <a:ea typeface="Inter" pitchFamily="34" charset="-122"/>
                <a:cs typeface="Inter" pitchFamily="34" charset="-120"/>
              </a:rPr>
              <a:t>On Time Delivery is (27.78%)</a:t>
            </a:r>
            <a:endParaRPr lang="en-US" sz="3000" dirty="0"/>
          </a:p>
        </p:txBody>
      </p:sp>
      <p:sp>
        <p:nvSpPr>
          <p:cNvPr id="8" name="featpaper-node:3:57"/>
          <p:cNvSpPr/>
          <p:nvPr/>
        </p:nvSpPr>
        <p:spPr>
          <a:xfrm>
            <a:off x="1701800" y="6683763"/>
            <a:ext cx="16212820" cy="533400"/>
          </a:xfrm>
          <a:prstGeom prst="rect">
            <a:avLst/>
          </a:prstGeom>
          <a:noFill/>
          <a:ln/>
        </p:spPr>
        <p:txBody>
          <a:bodyPr wrap="none" lIns="0" tIns="0" rIns="0" bIns="0" rtlCol="0" anchor="t"/>
          <a:lstStyle/>
          <a:p>
            <a:pPr marL="0" indent="0" algn="l">
              <a:lnSpc>
                <a:spcPts val="4200"/>
              </a:lnSpc>
              <a:buNone/>
            </a:pPr>
            <a:r>
              <a:rPr lang="en-US" sz="3500" kern="0" spc="-39" dirty="0">
                <a:solidFill>
                  <a:srgbClr val="E1D7D0"/>
                </a:solidFill>
                <a:latin typeface="Inter" pitchFamily="34" charset="0"/>
                <a:ea typeface="Inter" pitchFamily="34" charset="-122"/>
                <a:cs typeface="Inter" pitchFamily="34" charset="-120"/>
              </a:rPr>
              <a:t>Customer Carffour, Tesco, Next, Zara, Mango the Average Delay less than &lt; 5</a:t>
            </a:r>
            <a:endParaRPr lang="en-US" sz="3500" dirty="0"/>
          </a:p>
        </p:txBody>
      </p:sp>
      <p:sp>
        <p:nvSpPr>
          <p:cNvPr id="9" name="featpaper-node:3:58"/>
          <p:cNvSpPr/>
          <p:nvPr/>
        </p:nvSpPr>
        <p:spPr>
          <a:xfrm>
            <a:off x="1701800" y="7629054"/>
            <a:ext cx="15387320" cy="533400"/>
          </a:xfrm>
          <a:prstGeom prst="rect">
            <a:avLst/>
          </a:prstGeom>
          <a:noFill/>
          <a:ln/>
        </p:spPr>
        <p:txBody>
          <a:bodyPr wrap="none" lIns="0" tIns="0" rIns="0" bIns="0" rtlCol="0" anchor="t"/>
          <a:lstStyle/>
          <a:p>
            <a:pPr marL="0" indent="0" algn="l">
              <a:lnSpc>
                <a:spcPts val="4200"/>
              </a:lnSpc>
              <a:buNone/>
            </a:pPr>
            <a:r>
              <a:rPr lang="en-US" sz="3500" kern="0" spc="-39" dirty="0">
                <a:solidFill>
                  <a:srgbClr val="E1D7D0"/>
                </a:solidFill>
                <a:latin typeface="Inter" pitchFamily="34" charset="0"/>
                <a:ea typeface="Inter" pitchFamily="34" charset="-122"/>
                <a:cs typeface="Inter" pitchFamily="34" charset="-120"/>
              </a:rPr>
              <a:t>Unit C is Biggest Late Orders (30) but Unit A is Smallest Late Orders (9)</a:t>
            </a:r>
            <a:endParaRPr lang="en-US" sz="3500" dirty="0"/>
          </a:p>
        </p:txBody>
      </p:sp>
      <p:sp>
        <p:nvSpPr>
          <p:cNvPr id="10" name="featpaper-node:3:59"/>
          <p:cNvSpPr/>
          <p:nvPr/>
        </p:nvSpPr>
        <p:spPr>
          <a:xfrm>
            <a:off x="7061200" y="3743375"/>
            <a:ext cx="4465320" cy="457200"/>
          </a:xfrm>
          <a:prstGeom prst="rect">
            <a:avLst/>
          </a:prstGeom>
          <a:noFill/>
          <a:ln/>
        </p:spPr>
        <p:txBody>
          <a:bodyPr wrap="none" lIns="0" tIns="0" rIns="0" bIns="0" rtlCol="0" anchor="t"/>
          <a:lstStyle/>
          <a:p>
            <a:pPr marL="0" indent="0" algn="l">
              <a:lnSpc>
                <a:spcPts val="3600"/>
              </a:lnSpc>
              <a:buNone/>
            </a:pPr>
            <a:r>
              <a:rPr lang="en-US" sz="3000" kern="0" spc="-33" dirty="0">
                <a:solidFill>
                  <a:srgbClr val="E1D7D0"/>
                </a:solidFill>
                <a:latin typeface="Inter" pitchFamily="34" charset="0"/>
                <a:ea typeface="Inter" pitchFamily="34" charset="-122"/>
                <a:cs typeface="Inter" pitchFamily="34" charset="-120"/>
              </a:rPr>
              <a:t>Average Delay is (5.4)</a:t>
            </a:r>
            <a:endParaRPr lang="en-US" sz="3000" dirty="0"/>
          </a:p>
        </p:txBody>
      </p:sp>
      <p:sp>
        <p:nvSpPr>
          <p:cNvPr id="11" name="featpaper-node:3:60"/>
          <p:cNvSpPr/>
          <p:nvPr/>
        </p:nvSpPr>
        <p:spPr>
          <a:xfrm>
            <a:off x="20116800" y="12595127"/>
            <a:ext cx="3627120" cy="482600"/>
          </a:xfrm>
          <a:prstGeom prst="rect">
            <a:avLst/>
          </a:prstGeom>
          <a:noFill/>
          <a:ln/>
        </p:spPr>
        <p:txBody>
          <a:bodyPr wrap="none" lIns="0" tIns="0" rIns="0" bIns="0" rtlCol="0" anchor="t"/>
          <a:lstStyle/>
          <a:p>
            <a:pPr marL="0" indent="0" algn="r">
              <a:lnSpc>
                <a:spcPts val="3807"/>
              </a:lnSpc>
              <a:buNone/>
            </a:pPr>
            <a:r>
              <a:rPr lang="en-US" sz="2538" kern="0" spc="-28" dirty="0">
                <a:solidFill>
                  <a:srgbClr val="FFFFFF"/>
                </a:solidFill>
                <a:latin typeface="Inter" pitchFamily="34" charset="0"/>
                <a:ea typeface="Inter" pitchFamily="34" charset="-122"/>
                <a:cs typeface="Inter" pitchFamily="34" charset="-120"/>
              </a:rPr>
              <a:t>Page | 7</a:t>
            </a:r>
            <a:endParaRPr lang="en-US" sz="2538" dirty="0"/>
          </a:p>
        </p:txBody>
      </p:sp>
      <p:sp>
        <p:nvSpPr>
          <p:cNvPr id="12" name="featpaper-node:3:61"/>
          <p:cNvSpPr/>
          <p:nvPr/>
        </p:nvSpPr>
        <p:spPr>
          <a:xfrm>
            <a:off x="11645900" y="3743375"/>
            <a:ext cx="5481320" cy="457200"/>
          </a:xfrm>
          <a:prstGeom prst="rect">
            <a:avLst/>
          </a:prstGeom>
          <a:noFill/>
          <a:ln/>
        </p:spPr>
        <p:txBody>
          <a:bodyPr wrap="none" lIns="0" tIns="0" rIns="0" bIns="0" rtlCol="0" anchor="t"/>
          <a:lstStyle/>
          <a:p>
            <a:pPr marL="0" indent="0" algn="l">
              <a:lnSpc>
                <a:spcPts val="3600"/>
              </a:lnSpc>
              <a:buNone/>
            </a:pPr>
            <a:r>
              <a:rPr lang="en-US" sz="3000" kern="0" spc="-33" dirty="0">
                <a:solidFill>
                  <a:srgbClr val="E1D7D0"/>
                </a:solidFill>
                <a:latin typeface="Inter" pitchFamily="34" charset="0"/>
                <a:ea typeface="Inter" pitchFamily="34" charset="-122"/>
                <a:cs typeface="Inter" pitchFamily="34" charset="-120"/>
              </a:rPr>
              <a:t>Number of Order Late is (130) </a:t>
            </a:r>
            <a:endParaRPr lang="en-US" sz="3000" dirty="0"/>
          </a:p>
        </p:txBody>
      </p:sp>
      <p:sp>
        <p:nvSpPr>
          <p:cNvPr id="13" name="featpaper-node:3:62"/>
          <p:cNvSpPr/>
          <p:nvPr/>
        </p:nvSpPr>
        <p:spPr>
          <a:xfrm>
            <a:off x="17386300" y="3743375"/>
            <a:ext cx="6357620" cy="457200"/>
          </a:xfrm>
          <a:prstGeom prst="rect">
            <a:avLst/>
          </a:prstGeom>
          <a:noFill/>
          <a:ln/>
        </p:spPr>
        <p:txBody>
          <a:bodyPr wrap="none" lIns="0" tIns="0" rIns="0" bIns="0" rtlCol="0" anchor="t"/>
          <a:lstStyle/>
          <a:p>
            <a:pPr marL="0" indent="0" algn="l">
              <a:lnSpc>
                <a:spcPts val="3600"/>
              </a:lnSpc>
              <a:buNone/>
            </a:pPr>
            <a:r>
              <a:rPr lang="en-US" sz="3000" kern="0" spc="-33" dirty="0">
                <a:solidFill>
                  <a:srgbClr val="E1D7D0"/>
                </a:solidFill>
                <a:latin typeface="Inter" pitchFamily="34" charset="0"/>
                <a:ea typeface="Inter" pitchFamily="34" charset="-122"/>
                <a:cs typeface="Inter" pitchFamily="34" charset="-120"/>
              </a:rPr>
              <a:t>Number of order on Time is (50)</a:t>
            </a:r>
            <a:endParaRPr lang="en-US" sz="3000" dirty="0"/>
          </a:p>
        </p:txBody>
      </p:sp>
      <p:sp>
        <p:nvSpPr>
          <p:cNvPr id="14" name="featpaper-node:3:64"/>
          <p:cNvSpPr/>
          <p:nvPr/>
        </p:nvSpPr>
        <p:spPr>
          <a:xfrm>
            <a:off x="1701800" y="8594254"/>
            <a:ext cx="18498820" cy="533400"/>
          </a:xfrm>
          <a:prstGeom prst="rect">
            <a:avLst/>
          </a:prstGeom>
          <a:noFill/>
          <a:ln/>
        </p:spPr>
        <p:txBody>
          <a:bodyPr wrap="none" lIns="0" tIns="0" rIns="0" bIns="0" rtlCol="0" anchor="t"/>
          <a:lstStyle/>
          <a:p>
            <a:pPr marL="0" indent="0" algn="l">
              <a:lnSpc>
                <a:spcPts val="4200"/>
              </a:lnSpc>
              <a:buNone/>
            </a:pPr>
            <a:r>
              <a:rPr lang="en-US" sz="3500" kern="0" spc="-39" dirty="0">
                <a:solidFill>
                  <a:srgbClr val="E1D7D0"/>
                </a:solidFill>
                <a:latin typeface="Inter" pitchFamily="34" charset="0"/>
                <a:ea typeface="Inter" pitchFamily="34" charset="-122"/>
                <a:cs typeface="Inter" pitchFamily="34" charset="-120"/>
              </a:rPr>
              <a:t>The High On Time Delivery Customer is (Carffour, Next) by 40% and others Less than 40</a:t>
            </a:r>
            <a:endParaRPr lang="en-US" sz="3500" dirty="0"/>
          </a:p>
        </p:txBody>
      </p:sp>
      <p:sp>
        <p:nvSpPr>
          <p:cNvPr id="15" name="featpaper-node:11:110"/>
          <p:cNvSpPr/>
          <p:nvPr/>
        </p:nvSpPr>
        <p:spPr>
          <a:xfrm>
            <a:off x="1701800" y="9604802"/>
            <a:ext cx="8503920" cy="533400"/>
          </a:xfrm>
          <a:prstGeom prst="rect">
            <a:avLst/>
          </a:prstGeom>
          <a:noFill/>
          <a:ln/>
        </p:spPr>
        <p:txBody>
          <a:bodyPr wrap="none" lIns="0" tIns="0" rIns="0" bIns="0" rtlCol="0" anchor="t"/>
          <a:lstStyle/>
          <a:p>
            <a:pPr marL="0" indent="0" algn="l">
              <a:lnSpc>
                <a:spcPts val="4200"/>
              </a:lnSpc>
              <a:buNone/>
            </a:pPr>
            <a:r>
              <a:rPr lang="en-US" sz="3500" kern="0" spc="-39" dirty="0">
                <a:solidFill>
                  <a:srgbClr val="E1D7D0"/>
                </a:solidFill>
                <a:latin typeface="Inter" pitchFamily="34" charset="0"/>
                <a:ea typeface="Inter" pitchFamily="34" charset="-122"/>
                <a:cs typeface="Inter" pitchFamily="34" charset="-120"/>
              </a:rPr>
              <a:t>Unit A Declined by Delay in Every Month</a:t>
            </a:r>
            <a:endParaRPr lang="en-US" sz="3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33145"/>
        </a:solidFill>
        <a:effectLst/>
      </p:bgPr>
    </p:bg>
    <p:spTree>
      <p:nvGrpSpPr>
        <p:cNvPr id="1" name=""/>
        <p:cNvGrpSpPr/>
        <p:nvPr/>
      </p:nvGrpSpPr>
      <p:grpSpPr>
        <a:xfrm>
          <a:off x="0" y="0"/>
          <a:ext cx="0" cy="0"/>
          <a:chOff x="0" y="0"/>
          <a:chExt cx="0" cy="0"/>
        </a:xfrm>
      </p:grpSpPr>
      <p:pic>
        <p:nvPicPr>
          <p:cNvPr id="2" name="featpaper-node:12:149" descr="8"/>
          <p:cNvPicPr>
            <a:picLocks noChangeAspect="1"/>
          </p:cNvPicPr>
          <p:nvPr/>
        </p:nvPicPr>
        <p:blipFill>
          <a:blip r:embed="rId3"/>
          <a:stretch>
            <a:fillRect/>
          </a:stretch>
        </p:blipFill>
        <p:spPr>
          <a:xfrm>
            <a:off x="0" y="0"/>
            <a:ext cx="24384000" cy="13716000"/>
          </a:xfrm>
          <a:prstGeom prst="rect">
            <a:avLst/>
          </a:prstGeom>
        </p:spPr>
      </p:pic>
      <p:pic>
        <p:nvPicPr>
          <p:cNvPr id="3" name="featpaper-node:12:150" descr="Ellipse 6"/>
          <p:cNvPicPr>
            <a:picLocks noChangeAspect="1"/>
          </p:cNvPicPr>
          <p:nvPr/>
        </p:nvPicPr>
        <p:blipFill>
          <a:blip r:embed="rId4"/>
          <a:stretch>
            <a:fillRect/>
          </a:stretch>
        </p:blipFill>
        <p:spPr>
          <a:xfrm>
            <a:off x="11983913" y="0"/>
            <a:ext cx="12400087" cy="10628939"/>
          </a:xfrm>
          <a:prstGeom prst="rect">
            <a:avLst/>
          </a:prstGeom>
        </p:spPr>
      </p:pic>
      <p:pic>
        <p:nvPicPr>
          <p:cNvPr id="4" name="featpaper-node:12:151" descr="Ellipse 7"/>
          <p:cNvPicPr>
            <a:picLocks noChangeAspect="1"/>
          </p:cNvPicPr>
          <p:nvPr/>
        </p:nvPicPr>
        <p:blipFill>
          <a:blip r:embed="rId5"/>
          <a:stretch>
            <a:fillRect/>
          </a:stretch>
        </p:blipFill>
        <p:spPr>
          <a:xfrm>
            <a:off x="0" y="0"/>
            <a:ext cx="23591292" cy="13716000"/>
          </a:xfrm>
          <a:prstGeom prst="rect">
            <a:avLst/>
          </a:prstGeom>
        </p:spPr>
      </p:pic>
      <p:sp>
        <p:nvSpPr>
          <p:cNvPr id="5" name="featpaper-node:12:153"/>
          <p:cNvSpPr/>
          <p:nvPr/>
        </p:nvSpPr>
        <p:spPr>
          <a:xfrm>
            <a:off x="5918200" y="389476"/>
            <a:ext cx="10523220" cy="1905000"/>
          </a:xfrm>
          <a:prstGeom prst="rect">
            <a:avLst/>
          </a:prstGeom>
          <a:noFill/>
          <a:ln/>
        </p:spPr>
        <p:txBody>
          <a:bodyPr wrap="none" lIns="0" tIns="0" rIns="0" bIns="0" rtlCol="0" anchor="t"/>
          <a:lstStyle/>
          <a:p>
            <a:pPr marL="0" indent="0" algn="ctr">
              <a:lnSpc>
                <a:spcPts val="15000"/>
              </a:lnSpc>
              <a:buNone/>
            </a:pPr>
            <a:r>
              <a:rPr lang="en-US" sz="10000" kern="0" spc="-110" dirty="0">
                <a:solidFill>
                  <a:srgbClr val="D94D28"/>
                </a:solidFill>
                <a:latin typeface="Inter" pitchFamily="34" charset="0"/>
                <a:ea typeface="Inter" pitchFamily="34" charset="-122"/>
                <a:cs typeface="Inter" pitchFamily="34" charset="-120"/>
              </a:rPr>
              <a:t>Key Risks</a:t>
            </a:r>
            <a:endParaRPr lang="en-US" sz="10000" dirty="0"/>
          </a:p>
        </p:txBody>
      </p:sp>
      <p:sp>
        <p:nvSpPr>
          <p:cNvPr id="6" name="featpaper-node:12:154"/>
          <p:cNvSpPr/>
          <p:nvPr/>
        </p:nvSpPr>
        <p:spPr>
          <a:xfrm>
            <a:off x="2413000" y="3228658"/>
            <a:ext cx="1595120" cy="2082800"/>
          </a:xfrm>
          <a:prstGeom prst="rect">
            <a:avLst/>
          </a:prstGeom>
          <a:noFill/>
          <a:ln/>
        </p:spPr>
        <p:txBody>
          <a:bodyPr wrap="none" lIns="0" tIns="0" rIns="0" bIns="0" rtlCol="0" anchor="t"/>
          <a:lstStyle/>
          <a:p>
            <a:pPr marL="0" indent="0" algn="l">
              <a:lnSpc>
                <a:spcPts val="16449"/>
              </a:lnSpc>
              <a:buNone/>
            </a:pPr>
            <a:r>
              <a:rPr lang="en-US" sz="10966" kern="0" spc="-121" dirty="0">
                <a:solidFill>
                  <a:srgbClr val="287293"/>
                </a:solidFill>
                <a:latin typeface="Inter" pitchFamily="34" charset="0"/>
                <a:ea typeface="Inter" pitchFamily="34" charset="-122"/>
                <a:cs typeface="Inter" pitchFamily="34" charset="-120"/>
              </a:rPr>
              <a:t>01</a:t>
            </a:r>
            <a:endParaRPr lang="en-US" sz="10966" dirty="0"/>
          </a:p>
        </p:txBody>
      </p:sp>
      <p:sp>
        <p:nvSpPr>
          <p:cNvPr id="7" name="featpaper-node:12:155"/>
          <p:cNvSpPr/>
          <p:nvPr/>
        </p:nvSpPr>
        <p:spPr>
          <a:xfrm>
            <a:off x="2362200" y="7910502"/>
            <a:ext cx="1785620" cy="2082800"/>
          </a:xfrm>
          <a:prstGeom prst="rect">
            <a:avLst/>
          </a:prstGeom>
          <a:noFill/>
          <a:ln/>
        </p:spPr>
        <p:txBody>
          <a:bodyPr wrap="none" lIns="0" tIns="0" rIns="0" bIns="0" rtlCol="0" anchor="t"/>
          <a:lstStyle/>
          <a:p>
            <a:pPr marL="0" indent="0" algn="l">
              <a:lnSpc>
                <a:spcPts val="16449"/>
              </a:lnSpc>
              <a:buNone/>
            </a:pPr>
            <a:r>
              <a:rPr lang="en-US" sz="10966" kern="0" spc="-121" dirty="0">
                <a:solidFill>
                  <a:srgbClr val="287293"/>
                </a:solidFill>
                <a:latin typeface="Inter" pitchFamily="34" charset="0"/>
                <a:ea typeface="Inter" pitchFamily="34" charset="-122"/>
                <a:cs typeface="Inter" pitchFamily="34" charset="-120"/>
              </a:rPr>
              <a:t>02</a:t>
            </a:r>
            <a:endParaRPr lang="en-US" sz="10966" dirty="0"/>
          </a:p>
        </p:txBody>
      </p:sp>
      <p:sp>
        <p:nvSpPr>
          <p:cNvPr id="8" name="featpaper-node:12:156"/>
          <p:cNvSpPr/>
          <p:nvPr/>
        </p:nvSpPr>
        <p:spPr>
          <a:xfrm>
            <a:off x="12670619" y="3139758"/>
            <a:ext cx="1836420" cy="2082800"/>
          </a:xfrm>
          <a:prstGeom prst="rect">
            <a:avLst/>
          </a:prstGeom>
          <a:noFill/>
          <a:ln/>
        </p:spPr>
        <p:txBody>
          <a:bodyPr wrap="none" lIns="0" tIns="0" rIns="0" bIns="0" rtlCol="0" anchor="t"/>
          <a:lstStyle/>
          <a:p>
            <a:pPr marL="0" indent="0" algn="l">
              <a:lnSpc>
                <a:spcPts val="16449"/>
              </a:lnSpc>
              <a:buNone/>
            </a:pPr>
            <a:r>
              <a:rPr lang="en-US" sz="10966" kern="0" spc="-121" dirty="0">
                <a:solidFill>
                  <a:srgbClr val="287293"/>
                </a:solidFill>
                <a:latin typeface="Inter" pitchFamily="34" charset="0"/>
                <a:ea typeface="Inter" pitchFamily="34" charset="-122"/>
                <a:cs typeface="Inter" pitchFamily="34" charset="-120"/>
              </a:rPr>
              <a:t>03</a:t>
            </a:r>
            <a:endParaRPr lang="en-US" sz="10966" dirty="0"/>
          </a:p>
        </p:txBody>
      </p:sp>
      <p:sp>
        <p:nvSpPr>
          <p:cNvPr id="9" name="featpaper-node:12:157"/>
          <p:cNvSpPr/>
          <p:nvPr/>
        </p:nvSpPr>
        <p:spPr>
          <a:xfrm>
            <a:off x="12874675" y="7746540"/>
            <a:ext cx="1849120" cy="2082800"/>
          </a:xfrm>
          <a:prstGeom prst="rect">
            <a:avLst/>
          </a:prstGeom>
          <a:noFill/>
          <a:ln/>
        </p:spPr>
        <p:txBody>
          <a:bodyPr wrap="none" lIns="0" tIns="0" rIns="0" bIns="0" rtlCol="0" anchor="t"/>
          <a:lstStyle/>
          <a:p>
            <a:pPr marL="0" indent="0" algn="l">
              <a:lnSpc>
                <a:spcPts val="16449"/>
              </a:lnSpc>
              <a:buNone/>
            </a:pPr>
            <a:r>
              <a:rPr lang="en-US" sz="10966" kern="0" spc="-121" dirty="0">
                <a:solidFill>
                  <a:srgbClr val="287293"/>
                </a:solidFill>
                <a:latin typeface="Inter" pitchFamily="34" charset="0"/>
                <a:ea typeface="Inter" pitchFamily="34" charset="-122"/>
                <a:cs typeface="Inter" pitchFamily="34" charset="-120"/>
              </a:rPr>
              <a:t>04</a:t>
            </a:r>
            <a:endParaRPr lang="en-US" sz="10966" dirty="0"/>
          </a:p>
        </p:txBody>
      </p:sp>
      <p:sp>
        <p:nvSpPr>
          <p:cNvPr id="10" name="featpaper-node:12:158"/>
          <p:cNvSpPr/>
          <p:nvPr/>
        </p:nvSpPr>
        <p:spPr>
          <a:xfrm>
            <a:off x="4395465" y="4320334"/>
            <a:ext cx="6002020" cy="495300"/>
          </a:xfrm>
          <a:prstGeom prst="rect">
            <a:avLst/>
          </a:prstGeom>
          <a:noFill/>
          <a:ln/>
        </p:spPr>
        <p:txBody>
          <a:bodyPr wrap="none" lIns="0" tIns="0" rIns="0" bIns="0" rtlCol="0" anchor="t"/>
          <a:lstStyle/>
          <a:p>
            <a:pPr marL="0" indent="0" algn="l">
              <a:lnSpc>
                <a:spcPts val="3877"/>
              </a:lnSpc>
              <a:buNone/>
            </a:pPr>
            <a:r>
              <a:rPr lang="en-US" sz="2872" kern="0" spc="-32" dirty="0">
                <a:solidFill>
                  <a:srgbClr val="FFFFFF"/>
                </a:solidFill>
                <a:latin typeface="Inter" pitchFamily="34" charset="0"/>
                <a:ea typeface="Inter" pitchFamily="34" charset="-122"/>
                <a:cs typeface="Inter" pitchFamily="34" charset="-120"/>
              </a:rPr>
              <a:t>Next, Primark Pieces less than 15%</a:t>
            </a:r>
            <a:endParaRPr lang="en-US" sz="2872" dirty="0"/>
          </a:p>
        </p:txBody>
      </p:sp>
      <p:sp>
        <p:nvSpPr>
          <p:cNvPr id="11" name="featpaper-node:13:170"/>
          <p:cNvSpPr/>
          <p:nvPr/>
        </p:nvSpPr>
        <p:spPr>
          <a:xfrm>
            <a:off x="4394200" y="4929934"/>
            <a:ext cx="5989320" cy="495300"/>
          </a:xfrm>
          <a:prstGeom prst="rect">
            <a:avLst/>
          </a:prstGeom>
          <a:noFill/>
          <a:ln/>
        </p:spPr>
        <p:txBody>
          <a:bodyPr wrap="none" lIns="0" tIns="0" rIns="0" bIns="0" rtlCol="0" anchor="t"/>
          <a:lstStyle/>
          <a:p>
            <a:pPr marL="0" indent="0" algn="l">
              <a:lnSpc>
                <a:spcPts val="3877"/>
              </a:lnSpc>
              <a:buNone/>
            </a:pPr>
            <a:r>
              <a:rPr lang="en-US" sz="2872" kern="0" spc="-32" dirty="0">
                <a:solidFill>
                  <a:srgbClr val="FFFFFF"/>
                </a:solidFill>
                <a:latin typeface="Inter" pitchFamily="34" charset="0"/>
                <a:ea typeface="Inter" pitchFamily="34" charset="-122"/>
                <a:cs typeface="Inter" pitchFamily="34" charset="-120"/>
              </a:rPr>
              <a:t>Primark Turnover less than 10%</a:t>
            </a:r>
            <a:endParaRPr lang="en-US" sz="2872" dirty="0"/>
          </a:p>
        </p:txBody>
      </p:sp>
      <p:sp>
        <p:nvSpPr>
          <p:cNvPr id="12" name="featpaper-node:12:159"/>
          <p:cNvSpPr/>
          <p:nvPr/>
        </p:nvSpPr>
        <p:spPr>
          <a:xfrm>
            <a:off x="14895835" y="4229100"/>
            <a:ext cx="5036820" cy="495300"/>
          </a:xfrm>
          <a:prstGeom prst="rect">
            <a:avLst/>
          </a:prstGeom>
          <a:noFill/>
          <a:ln/>
        </p:spPr>
        <p:txBody>
          <a:bodyPr wrap="none" lIns="0" tIns="0" rIns="0" bIns="0" rtlCol="0" anchor="t"/>
          <a:lstStyle/>
          <a:p>
            <a:pPr marL="0" indent="0" algn="l">
              <a:lnSpc>
                <a:spcPts val="3877"/>
              </a:lnSpc>
              <a:buNone/>
            </a:pPr>
            <a:r>
              <a:rPr lang="en-US" sz="2872" kern="0" spc="-32" dirty="0">
                <a:solidFill>
                  <a:srgbClr val="FFFFFF"/>
                </a:solidFill>
                <a:latin typeface="Inter" pitchFamily="34" charset="0"/>
                <a:ea typeface="Inter" pitchFamily="34" charset="-122"/>
                <a:cs typeface="Inter" pitchFamily="34" charset="-120"/>
              </a:rPr>
              <a:t>Target OTD less than 15 %</a:t>
            </a:r>
            <a:endParaRPr lang="en-US" sz="2872" dirty="0"/>
          </a:p>
        </p:txBody>
      </p:sp>
      <p:sp>
        <p:nvSpPr>
          <p:cNvPr id="13" name="featpaper-node:13:174"/>
          <p:cNvSpPr/>
          <p:nvPr/>
        </p:nvSpPr>
        <p:spPr>
          <a:xfrm>
            <a:off x="14960600" y="4815634"/>
            <a:ext cx="5036820" cy="495300"/>
          </a:xfrm>
          <a:prstGeom prst="rect">
            <a:avLst/>
          </a:prstGeom>
          <a:noFill/>
          <a:ln/>
        </p:spPr>
        <p:txBody>
          <a:bodyPr wrap="none" lIns="0" tIns="0" rIns="0" bIns="0" rtlCol="0" anchor="t"/>
          <a:lstStyle/>
          <a:p>
            <a:pPr marL="0" indent="0" algn="l">
              <a:lnSpc>
                <a:spcPts val="3877"/>
              </a:lnSpc>
              <a:buNone/>
            </a:pPr>
            <a:r>
              <a:rPr lang="en-US" sz="2872" kern="0" spc="-32" dirty="0">
                <a:solidFill>
                  <a:srgbClr val="FFFFFF"/>
                </a:solidFill>
                <a:latin typeface="Inter" pitchFamily="34" charset="0"/>
                <a:ea typeface="Inter" pitchFamily="34" charset="-122"/>
                <a:cs typeface="Inter" pitchFamily="34" charset="-120"/>
              </a:rPr>
              <a:t>Primark is High Delay by 7.8</a:t>
            </a:r>
            <a:endParaRPr lang="en-US" sz="2872" dirty="0"/>
          </a:p>
        </p:txBody>
      </p:sp>
      <p:sp>
        <p:nvSpPr>
          <p:cNvPr id="14" name="featpaper-node:12:160"/>
          <p:cNvSpPr/>
          <p:nvPr/>
        </p:nvSpPr>
        <p:spPr>
          <a:xfrm>
            <a:off x="4470400" y="9006634"/>
            <a:ext cx="7208520" cy="495300"/>
          </a:xfrm>
          <a:prstGeom prst="rect">
            <a:avLst/>
          </a:prstGeom>
          <a:noFill/>
          <a:ln/>
        </p:spPr>
        <p:txBody>
          <a:bodyPr wrap="none" lIns="0" tIns="0" rIns="0" bIns="0" rtlCol="0" anchor="t"/>
          <a:lstStyle/>
          <a:p>
            <a:pPr marL="0" indent="0" algn="l">
              <a:lnSpc>
                <a:spcPts val="3877"/>
              </a:lnSpc>
              <a:buNone/>
            </a:pPr>
            <a:r>
              <a:rPr lang="en-US" sz="2872" kern="0" spc="-32" dirty="0">
                <a:solidFill>
                  <a:srgbClr val="FFFFFF"/>
                </a:solidFill>
                <a:latin typeface="Inter" pitchFamily="34" charset="0"/>
                <a:ea typeface="Inter" pitchFamily="34" charset="-122"/>
                <a:cs typeface="Inter" pitchFamily="34" charset="-120"/>
              </a:rPr>
              <a:t>Unit E, Unit F Achievement Less than 90% </a:t>
            </a:r>
            <a:endParaRPr lang="en-US" sz="2872" dirty="0"/>
          </a:p>
        </p:txBody>
      </p:sp>
      <p:sp>
        <p:nvSpPr>
          <p:cNvPr id="15" name="featpaper-node:13:172"/>
          <p:cNvSpPr/>
          <p:nvPr/>
        </p:nvSpPr>
        <p:spPr>
          <a:xfrm>
            <a:off x="4470400" y="9616234"/>
            <a:ext cx="7208520" cy="495300"/>
          </a:xfrm>
          <a:prstGeom prst="rect">
            <a:avLst/>
          </a:prstGeom>
          <a:noFill/>
          <a:ln/>
        </p:spPr>
        <p:txBody>
          <a:bodyPr wrap="none" lIns="0" tIns="0" rIns="0" bIns="0" rtlCol="0" anchor="t"/>
          <a:lstStyle/>
          <a:p>
            <a:pPr marL="0" indent="0" algn="l">
              <a:lnSpc>
                <a:spcPts val="3877"/>
              </a:lnSpc>
              <a:buNone/>
            </a:pPr>
            <a:r>
              <a:rPr lang="en-US" sz="2872" kern="0" spc="-32" dirty="0">
                <a:solidFill>
                  <a:srgbClr val="FFFFFF"/>
                </a:solidFill>
                <a:latin typeface="Inter" pitchFamily="34" charset="0"/>
                <a:ea typeface="Inter" pitchFamily="34" charset="-122"/>
                <a:cs typeface="Inter" pitchFamily="34" charset="-120"/>
              </a:rPr>
              <a:t>Unit C is deteriorating Every Month</a:t>
            </a:r>
            <a:endParaRPr lang="en-US" sz="2872" dirty="0"/>
          </a:p>
        </p:txBody>
      </p:sp>
      <p:sp>
        <p:nvSpPr>
          <p:cNvPr id="16" name="featpaper-node:12:161"/>
          <p:cNvSpPr/>
          <p:nvPr/>
        </p:nvSpPr>
        <p:spPr>
          <a:xfrm>
            <a:off x="15125700" y="8841534"/>
            <a:ext cx="5036820" cy="495300"/>
          </a:xfrm>
          <a:prstGeom prst="rect">
            <a:avLst/>
          </a:prstGeom>
          <a:noFill/>
          <a:ln/>
        </p:spPr>
        <p:txBody>
          <a:bodyPr wrap="none" lIns="0" tIns="0" rIns="0" bIns="0" rtlCol="0" anchor="t"/>
          <a:lstStyle/>
          <a:p>
            <a:pPr marL="0" indent="0" algn="l">
              <a:lnSpc>
                <a:spcPts val="3877"/>
              </a:lnSpc>
              <a:buNone/>
            </a:pPr>
            <a:r>
              <a:rPr lang="en-US" sz="2872" kern="0" spc="-32" dirty="0">
                <a:solidFill>
                  <a:srgbClr val="FFFFFF"/>
                </a:solidFill>
                <a:latin typeface="Inter" pitchFamily="34" charset="0"/>
                <a:ea typeface="Inter" pitchFamily="34" charset="-122"/>
                <a:cs typeface="Inter" pitchFamily="34" charset="-120"/>
              </a:rPr>
              <a:t>Zara is Erosion by 47.5%</a:t>
            </a:r>
            <a:endParaRPr lang="en-US" sz="2872" dirty="0"/>
          </a:p>
        </p:txBody>
      </p:sp>
      <p:sp>
        <p:nvSpPr>
          <p:cNvPr id="17" name="featpaper-node:12:162"/>
          <p:cNvSpPr/>
          <p:nvPr/>
        </p:nvSpPr>
        <p:spPr>
          <a:xfrm>
            <a:off x="4395465" y="3517900"/>
            <a:ext cx="2065020" cy="635000"/>
          </a:xfrm>
          <a:prstGeom prst="rect">
            <a:avLst/>
          </a:prstGeom>
          <a:noFill/>
          <a:ln/>
        </p:spPr>
        <p:txBody>
          <a:bodyPr wrap="none" lIns="0" tIns="0" rIns="0" bIns="0" rtlCol="0" anchor="t"/>
          <a:lstStyle/>
          <a:p>
            <a:pPr marL="0" indent="0" algn="l">
              <a:lnSpc>
                <a:spcPts val="4991"/>
              </a:lnSpc>
              <a:buNone/>
            </a:pPr>
            <a:r>
              <a:rPr lang="en-US" sz="3327" b="1" kern="0" spc="-37" dirty="0">
                <a:solidFill>
                  <a:srgbClr val="FFFFFF"/>
                </a:solidFill>
                <a:latin typeface="Inter" pitchFamily="34" charset="0"/>
                <a:ea typeface="Inter" pitchFamily="34" charset="-122"/>
                <a:cs typeface="Inter" pitchFamily="34" charset="-120"/>
              </a:rPr>
              <a:t>Customer</a:t>
            </a:r>
            <a:endParaRPr lang="en-US" sz="3327" dirty="0"/>
          </a:p>
        </p:txBody>
      </p:sp>
      <p:sp>
        <p:nvSpPr>
          <p:cNvPr id="18" name="featpaper-node:12:163"/>
          <p:cNvSpPr/>
          <p:nvPr/>
        </p:nvSpPr>
        <p:spPr>
          <a:xfrm>
            <a:off x="14895835" y="3429000"/>
            <a:ext cx="1722120" cy="635000"/>
          </a:xfrm>
          <a:prstGeom prst="rect">
            <a:avLst/>
          </a:prstGeom>
          <a:noFill/>
          <a:ln/>
        </p:spPr>
        <p:txBody>
          <a:bodyPr wrap="none" lIns="0" tIns="0" rIns="0" bIns="0" rtlCol="0" anchor="t"/>
          <a:lstStyle/>
          <a:p>
            <a:pPr marL="0" indent="0" algn="l">
              <a:lnSpc>
                <a:spcPts val="4991"/>
              </a:lnSpc>
              <a:buNone/>
            </a:pPr>
            <a:r>
              <a:rPr lang="en-US" sz="3327" b="1" kern="0" spc="-37" dirty="0">
                <a:solidFill>
                  <a:srgbClr val="FFFFFF"/>
                </a:solidFill>
                <a:latin typeface="Inter" pitchFamily="34" charset="0"/>
                <a:ea typeface="Inter" pitchFamily="34" charset="-122"/>
                <a:cs typeface="Inter" pitchFamily="34" charset="-120"/>
              </a:rPr>
              <a:t>Delivery </a:t>
            </a:r>
            <a:endParaRPr lang="en-US" sz="3327" dirty="0"/>
          </a:p>
        </p:txBody>
      </p:sp>
      <p:sp>
        <p:nvSpPr>
          <p:cNvPr id="19" name="featpaper-node:12:164"/>
          <p:cNvSpPr/>
          <p:nvPr/>
        </p:nvSpPr>
        <p:spPr>
          <a:xfrm>
            <a:off x="4470400" y="8203062"/>
            <a:ext cx="2280920" cy="635000"/>
          </a:xfrm>
          <a:prstGeom prst="rect">
            <a:avLst/>
          </a:prstGeom>
          <a:noFill/>
          <a:ln/>
        </p:spPr>
        <p:txBody>
          <a:bodyPr wrap="none" lIns="0" tIns="0" rIns="0" bIns="0" rtlCol="0" anchor="t"/>
          <a:lstStyle/>
          <a:p>
            <a:pPr marL="0" indent="0" algn="l">
              <a:lnSpc>
                <a:spcPts val="4991"/>
              </a:lnSpc>
              <a:buNone/>
            </a:pPr>
            <a:r>
              <a:rPr lang="en-US" sz="3327" b="1" kern="0" spc="-37" dirty="0">
                <a:solidFill>
                  <a:srgbClr val="FFFFFF"/>
                </a:solidFill>
                <a:latin typeface="Inter" pitchFamily="34" charset="0"/>
                <a:ea typeface="Inter" pitchFamily="34" charset="-122"/>
                <a:cs typeface="Inter" pitchFamily="34" charset="-120"/>
              </a:rPr>
              <a:t>Production</a:t>
            </a:r>
            <a:endParaRPr lang="en-US" sz="3327" dirty="0"/>
          </a:p>
        </p:txBody>
      </p:sp>
      <p:sp>
        <p:nvSpPr>
          <p:cNvPr id="20" name="featpaper-node:12:165"/>
          <p:cNvSpPr/>
          <p:nvPr/>
        </p:nvSpPr>
        <p:spPr>
          <a:xfrm>
            <a:off x="15125700" y="8039100"/>
            <a:ext cx="2496820" cy="635000"/>
          </a:xfrm>
          <a:prstGeom prst="rect">
            <a:avLst/>
          </a:prstGeom>
          <a:noFill/>
          <a:ln/>
        </p:spPr>
        <p:txBody>
          <a:bodyPr wrap="none" lIns="0" tIns="0" rIns="0" bIns="0" rtlCol="0" anchor="t"/>
          <a:lstStyle/>
          <a:p>
            <a:pPr marL="0" indent="0" algn="l">
              <a:lnSpc>
                <a:spcPts val="4991"/>
              </a:lnSpc>
              <a:buNone/>
            </a:pPr>
            <a:r>
              <a:rPr lang="en-US" sz="3327" b="1" kern="0" spc="-37" dirty="0">
                <a:solidFill>
                  <a:srgbClr val="FFFFFF"/>
                </a:solidFill>
                <a:latin typeface="Inter" pitchFamily="34" charset="0"/>
                <a:ea typeface="Inter" pitchFamily="34" charset="-122"/>
                <a:cs typeface="Inter" pitchFamily="34" charset="-120"/>
              </a:rPr>
              <a:t>Commercial </a:t>
            </a:r>
            <a:endParaRPr lang="en-US" sz="3327" dirty="0"/>
          </a:p>
        </p:txBody>
      </p:sp>
      <p:sp>
        <p:nvSpPr>
          <p:cNvPr id="21" name="featpaper-node:12:166"/>
          <p:cNvSpPr/>
          <p:nvPr/>
        </p:nvSpPr>
        <p:spPr>
          <a:xfrm>
            <a:off x="20116800" y="12595127"/>
            <a:ext cx="3627120" cy="482600"/>
          </a:xfrm>
          <a:prstGeom prst="rect">
            <a:avLst/>
          </a:prstGeom>
          <a:noFill/>
          <a:ln/>
        </p:spPr>
        <p:txBody>
          <a:bodyPr wrap="none" lIns="0" tIns="0" rIns="0" bIns="0" rtlCol="0" anchor="t"/>
          <a:lstStyle/>
          <a:p>
            <a:pPr marL="0" indent="0" algn="r">
              <a:lnSpc>
                <a:spcPts val="3807"/>
              </a:lnSpc>
              <a:buNone/>
            </a:pPr>
            <a:r>
              <a:rPr lang="en-US" sz="2538" kern="0" spc="-28" dirty="0">
                <a:solidFill>
                  <a:srgbClr val="FFFFFF"/>
                </a:solidFill>
                <a:latin typeface="Inter" pitchFamily="34" charset="0"/>
                <a:ea typeface="Inter" pitchFamily="34" charset="-122"/>
                <a:cs typeface="Inter" pitchFamily="34" charset="-120"/>
              </a:rPr>
              <a:t>Page | 8</a:t>
            </a:r>
            <a:endParaRPr lang="en-US" sz="2538"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87293"/>
        </a:solidFill>
        <a:effectLst/>
      </p:bgPr>
    </p:bg>
    <p:spTree>
      <p:nvGrpSpPr>
        <p:cNvPr id="1" name=""/>
        <p:cNvGrpSpPr/>
        <p:nvPr/>
      </p:nvGrpSpPr>
      <p:grpSpPr>
        <a:xfrm>
          <a:off x="0" y="0"/>
          <a:ext cx="0" cy="0"/>
          <a:chOff x="0" y="0"/>
          <a:chExt cx="0" cy="0"/>
        </a:xfrm>
      </p:grpSpPr>
      <p:pic>
        <p:nvPicPr>
          <p:cNvPr id="2" name="featpaper-node:7:95" descr="9"/>
          <p:cNvPicPr>
            <a:picLocks noChangeAspect="1"/>
          </p:cNvPicPr>
          <p:nvPr/>
        </p:nvPicPr>
        <p:blipFill>
          <a:blip r:embed="rId3"/>
          <a:stretch>
            <a:fillRect/>
          </a:stretch>
        </p:blipFill>
        <p:spPr>
          <a:xfrm>
            <a:off x="0" y="0"/>
            <a:ext cx="24384000" cy="13716000"/>
          </a:xfrm>
          <a:prstGeom prst="rect">
            <a:avLst/>
          </a:prstGeom>
        </p:spPr>
      </p:pic>
      <p:pic>
        <p:nvPicPr>
          <p:cNvPr id="3" name="featpaper-node:7:96" descr="Ellipse 6"/>
          <p:cNvPicPr>
            <a:picLocks noChangeAspect="1"/>
          </p:cNvPicPr>
          <p:nvPr/>
        </p:nvPicPr>
        <p:blipFill>
          <a:blip r:embed="rId4"/>
          <a:stretch>
            <a:fillRect/>
          </a:stretch>
        </p:blipFill>
        <p:spPr>
          <a:xfrm>
            <a:off x="2916610" y="0"/>
            <a:ext cx="20696634" cy="13716000"/>
          </a:xfrm>
          <a:prstGeom prst="rect">
            <a:avLst/>
          </a:prstGeom>
        </p:spPr>
      </p:pic>
      <p:sp>
        <p:nvSpPr>
          <p:cNvPr id="4" name="featpaper-node:7:97"/>
          <p:cNvSpPr/>
          <p:nvPr/>
        </p:nvSpPr>
        <p:spPr>
          <a:xfrm>
            <a:off x="1295400" y="914400"/>
            <a:ext cx="8707120" cy="1219200"/>
          </a:xfrm>
          <a:prstGeom prst="rect">
            <a:avLst/>
          </a:prstGeom>
          <a:noFill/>
          <a:ln/>
        </p:spPr>
        <p:txBody>
          <a:bodyPr wrap="none" lIns="0" tIns="0" rIns="0" bIns="0" rtlCol="0" anchor="t"/>
          <a:lstStyle/>
          <a:p>
            <a:pPr marL="0" indent="0" algn="l">
              <a:lnSpc>
                <a:spcPts val="9600"/>
              </a:lnSpc>
              <a:buNone/>
            </a:pPr>
            <a:r>
              <a:rPr lang="en-US" sz="8000" kern="0" spc="-88" dirty="0">
                <a:solidFill>
                  <a:srgbClr val="E1D7D0"/>
                </a:solidFill>
                <a:latin typeface="Inter" pitchFamily="34" charset="0"/>
                <a:ea typeface="Inter" pitchFamily="34" charset="-122"/>
                <a:cs typeface="Inter" pitchFamily="34" charset="-120"/>
              </a:rPr>
              <a:t>Recommendation </a:t>
            </a:r>
            <a:endParaRPr lang="en-US" sz="8000" dirty="0"/>
          </a:p>
        </p:txBody>
      </p:sp>
      <p:sp>
        <p:nvSpPr>
          <p:cNvPr id="5" name="featpaper-node:7:98"/>
          <p:cNvSpPr/>
          <p:nvPr/>
        </p:nvSpPr>
        <p:spPr>
          <a:xfrm>
            <a:off x="1701800" y="2563063"/>
            <a:ext cx="3271520" cy="762000"/>
          </a:xfrm>
          <a:prstGeom prst="rect">
            <a:avLst/>
          </a:prstGeom>
          <a:noFill/>
          <a:ln/>
        </p:spPr>
        <p:txBody>
          <a:bodyPr wrap="none" lIns="0" tIns="0" rIns="0" bIns="0" rtlCol="0" anchor="t"/>
          <a:lstStyle/>
          <a:p>
            <a:pPr marL="0" indent="0" algn="l">
              <a:lnSpc>
                <a:spcPts val="6000"/>
              </a:lnSpc>
              <a:buNone/>
            </a:pPr>
            <a:r>
              <a:rPr lang="en-US" sz="5000" kern="0" spc="-55" dirty="0">
                <a:solidFill>
                  <a:srgbClr val="E1D7D0"/>
                </a:solidFill>
                <a:latin typeface="Inter" pitchFamily="34" charset="0"/>
                <a:ea typeface="Inter" pitchFamily="34" charset="-122"/>
                <a:cs typeface="Inter" pitchFamily="34" charset="-120"/>
              </a:rPr>
              <a:t>Customer</a:t>
            </a:r>
            <a:endParaRPr lang="en-US" sz="5000" dirty="0"/>
          </a:p>
        </p:txBody>
      </p:sp>
      <p:sp>
        <p:nvSpPr>
          <p:cNvPr id="6" name="featpaper-node:13:176"/>
          <p:cNvSpPr/>
          <p:nvPr/>
        </p:nvSpPr>
        <p:spPr>
          <a:xfrm>
            <a:off x="1701800" y="7478188"/>
            <a:ext cx="2725420" cy="762000"/>
          </a:xfrm>
          <a:prstGeom prst="rect">
            <a:avLst/>
          </a:prstGeom>
          <a:noFill/>
          <a:ln/>
        </p:spPr>
        <p:txBody>
          <a:bodyPr wrap="none" lIns="0" tIns="0" rIns="0" bIns="0" rtlCol="0" anchor="t"/>
          <a:lstStyle/>
          <a:p>
            <a:pPr marL="0" indent="0" algn="l">
              <a:lnSpc>
                <a:spcPts val="6000"/>
              </a:lnSpc>
              <a:buNone/>
            </a:pPr>
            <a:r>
              <a:rPr lang="en-US" sz="5000" kern="0" spc="-55" dirty="0">
                <a:solidFill>
                  <a:srgbClr val="E1D7D0"/>
                </a:solidFill>
                <a:latin typeface="Inter" pitchFamily="34" charset="0"/>
                <a:ea typeface="Inter" pitchFamily="34" charset="-122"/>
                <a:cs typeface="Inter" pitchFamily="34" charset="-120"/>
              </a:rPr>
              <a:t>Delivery</a:t>
            </a:r>
            <a:endParaRPr lang="en-US" sz="5000" dirty="0"/>
          </a:p>
        </p:txBody>
      </p:sp>
      <p:sp>
        <p:nvSpPr>
          <p:cNvPr id="7" name="featpaper-node:13:178"/>
          <p:cNvSpPr/>
          <p:nvPr/>
        </p:nvSpPr>
        <p:spPr>
          <a:xfrm>
            <a:off x="14566900" y="7478188"/>
            <a:ext cx="3487420" cy="762000"/>
          </a:xfrm>
          <a:prstGeom prst="rect">
            <a:avLst/>
          </a:prstGeom>
          <a:noFill/>
          <a:ln/>
        </p:spPr>
        <p:txBody>
          <a:bodyPr wrap="none" lIns="0" tIns="0" rIns="0" bIns="0" rtlCol="0" anchor="t"/>
          <a:lstStyle/>
          <a:p>
            <a:pPr marL="0" indent="0" algn="l">
              <a:lnSpc>
                <a:spcPts val="6000"/>
              </a:lnSpc>
              <a:buNone/>
            </a:pPr>
            <a:r>
              <a:rPr lang="en-US" sz="5000" kern="0" spc="-55" dirty="0">
                <a:solidFill>
                  <a:srgbClr val="E1D7D0"/>
                </a:solidFill>
                <a:latin typeface="Inter" pitchFamily="34" charset="0"/>
                <a:ea typeface="Inter" pitchFamily="34" charset="-122"/>
                <a:cs typeface="Inter" pitchFamily="34" charset="-120"/>
              </a:rPr>
              <a:t>Prodcution</a:t>
            </a:r>
            <a:endParaRPr lang="en-US" sz="5000" dirty="0"/>
          </a:p>
        </p:txBody>
      </p:sp>
      <p:sp>
        <p:nvSpPr>
          <p:cNvPr id="8" name="featpaper-node:7:99"/>
          <p:cNvSpPr/>
          <p:nvPr/>
        </p:nvSpPr>
        <p:spPr>
          <a:xfrm>
            <a:off x="14566900" y="2563063"/>
            <a:ext cx="1874520" cy="762000"/>
          </a:xfrm>
          <a:prstGeom prst="rect">
            <a:avLst/>
          </a:prstGeom>
          <a:noFill/>
          <a:ln/>
        </p:spPr>
        <p:txBody>
          <a:bodyPr wrap="none" lIns="0" tIns="0" rIns="0" bIns="0" rtlCol="0" anchor="t"/>
          <a:lstStyle/>
          <a:p>
            <a:pPr marL="0" indent="0" algn="l">
              <a:lnSpc>
                <a:spcPts val="6000"/>
              </a:lnSpc>
              <a:buNone/>
            </a:pPr>
            <a:r>
              <a:rPr lang="en-US" sz="5000" kern="0" spc="-55" dirty="0">
                <a:solidFill>
                  <a:srgbClr val="E1D7D0"/>
                </a:solidFill>
                <a:latin typeface="Inter" pitchFamily="34" charset="0"/>
                <a:ea typeface="Inter" pitchFamily="34" charset="-122"/>
                <a:cs typeface="Inter" pitchFamily="34" charset="-120"/>
              </a:rPr>
              <a:t>Style</a:t>
            </a:r>
            <a:endParaRPr lang="en-US" sz="5000" dirty="0"/>
          </a:p>
        </p:txBody>
      </p:sp>
      <p:sp>
        <p:nvSpPr>
          <p:cNvPr id="9" name="featpaper-node:7:100"/>
          <p:cNvSpPr/>
          <p:nvPr/>
        </p:nvSpPr>
        <p:spPr>
          <a:xfrm>
            <a:off x="1701800" y="3829217"/>
            <a:ext cx="6992620" cy="533400"/>
          </a:xfrm>
          <a:prstGeom prst="rect">
            <a:avLst/>
          </a:prstGeom>
          <a:noFill/>
          <a:ln/>
        </p:spPr>
        <p:txBody>
          <a:bodyPr wrap="none" lIns="0" tIns="0" rIns="0" bIns="0" rtlCol="0" anchor="t"/>
          <a:lstStyle/>
          <a:p>
            <a:pPr marL="0" indent="0" algn="l">
              <a:lnSpc>
                <a:spcPts val="4200"/>
              </a:lnSpc>
              <a:buNone/>
            </a:pPr>
            <a:r>
              <a:rPr lang="en-US" sz="3500" kern="0" spc="-39" dirty="0">
                <a:solidFill>
                  <a:srgbClr val="E1D7D0"/>
                </a:solidFill>
                <a:latin typeface="Inter" pitchFamily="34" charset="0"/>
                <a:ea typeface="Inter" pitchFamily="34" charset="-122"/>
                <a:cs typeface="Inter" pitchFamily="34" charset="-120"/>
              </a:rPr>
              <a:t>Re-engage declining customers
</a:t>
            </a:r>
            <a:endParaRPr lang="en-US" sz="3500" dirty="0"/>
          </a:p>
        </p:txBody>
      </p:sp>
      <p:sp>
        <p:nvSpPr>
          <p:cNvPr id="10" name="featpaper-node:13:184"/>
          <p:cNvSpPr/>
          <p:nvPr/>
        </p:nvSpPr>
        <p:spPr>
          <a:xfrm>
            <a:off x="14249400" y="3762763"/>
            <a:ext cx="6497320" cy="533400"/>
          </a:xfrm>
          <a:prstGeom prst="rect">
            <a:avLst/>
          </a:prstGeom>
          <a:noFill/>
          <a:ln/>
        </p:spPr>
        <p:txBody>
          <a:bodyPr wrap="none" lIns="0" tIns="0" rIns="0" bIns="0" rtlCol="0" anchor="t"/>
          <a:lstStyle/>
          <a:p>
            <a:pPr marL="0" indent="0" algn="l">
              <a:lnSpc>
                <a:spcPts val="4200"/>
              </a:lnSpc>
              <a:buNone/>
            </a:pPr>
            <a:r>
              <a:rPr lang="en-US" sz="3500" kern="0" spc="-39" dirty="0">
                <a:solidFill>
                  <a:srgbClr val="E1D7D0"/>
                </a:solidFill>
                <a:latin typeface="Inter" pitchFamily="34" charset="0"/>
                <a:ea typeface="Inter" pitchFamily="34" charset="-122"/>
                <a:cs typeface="Inter" pitchFamily="34" charset="-120"/>
              </a:rPr>
              <a:t>Expand top-performing styles</a:t>
            </a:r>
            <a:endParaRPr lang="en-US" sz="3500" dirty="0"/>
          </a:p>
        </p:txBody>
      </p:sp>
      <p:sp>
        <p:nvSpPr>
          <p:cNvPr id="11" name="featpaper-node:13:180"/>
          <p:cNvSpPr/>
          <p:nvPr/>
        </p:nvSpPr>
        <p:spPr>
          <a:xfrm>
            <a:off x="1701800" y="4448563"/>
            <a:ext cx="8249920" cy="533400"/>
          </a:xfrm>
          <a:prstGeom prst="rect">
            <a:avLst/>
          </a:prstGeom>
          <a:noFill/>
          <a:ln/>
        </p:spPr>
        <p:txBody>
          <a:bodyPr wrap="none" lIns="0" tIns="0" rIns="0" bIns="0" rtlCol="0" anchor="t"/>
          <a:lstStyle/>
          <a:p>
            <a:pPr marL="0" indent="0" algn="l">
              <a:lnSpc>
                <a:spcPts val="4200"/>
              </a:lnSpc>
              <a:buNone/>
            </a:pPr>
            <a:r>
              <a:rPr lang="en-US" sz="3500" kern="0" spc="-39" dirty="0">
                <a:solidFill>
                  <a:srgbClr val="E1D7D0"/>
                </a:solidFill>
                <a:latin typeface="Inter" pitchFamily="34" charset="0"/>
                <a:ea typeface="Inter" pitchFamily="34" charset="-122"/>
                <a:cs typeface="Inter" pitchFamily="34" charset="-120"/>
              </a:rPr>
              <a:t>Increase focus on growing customers</a:t>
            </a:r>
            <a:endParaRPr lang="en-US" sz="3500" dirty="0"/>
          </a:p>
        </p:txBody>
      </p:sp>
      <p:sp>
        <p:nvSpPr>
          <p:cNvPr id="12" name="featpaper-node:13:190"/>
          <p:cNvSpPr/>
          <p:nvPr/>
        </p:nvSpPr>
        <p:spPr>
          <a:xfrm>
            <a:off x="1701800" y="9172963"/>
            <a:ext cx="6522720" cy="533400"/>
          </a:xfrm>
          <a:prstGeom prst="rect">
            <a:avLst/>
          </a:prstGeom>
          <a:noFill/>
          <a:ln/>
        </p:spPr>
        <p:txBody>
          <a:bodyPr wrap="none" lIns="0" tIns="0" rIns="0" bIns="0" rtlCol="0" anchor="t"/>
          <a:lstStyle/>
          <a:p>
            <a:pPr marL="0" indent="0" algn="l">
              <a:lnSpc>
                <a:spcPts val="4200"/>
              </a:lnSpc>
              <a:buNone/>
            </a:pPr>
            <a:r>
              <a:rPr lang="en-US" sz="3500" kern="0" spc="-39" dirty="0">
                <a:solidFill>
                  <a:srgbClr val="E1D7D0"/>
                </a:solidFill>
                <a:latin typeface="Inter" pitchFamily="34" charset="0"/>
                <a:ea typeface="Inter" pitchFamily="34" charset="-122"/>
                <a:cs typeface="Inter" pitchFamily="34" charset="-120"/>
              </a:rPr>
              <a:t>Improve low-performing units</a:t>
            </a:r>
            <a:endParaRPr lang="en-US" sz="3500" dirty="0"/>
          </a:p>
        </p:txBody>
      </p:sp>
      <p:sp>
        <p:nvSpPr>
          <p:cNvPr id="13" name="featpaper-node:13:194"/>
          <p:cNvSpPr/>
          <p:nvPr/>
        </p:nvSpPr>
        <p:spPr>
          <a:xfrm>
            <a:off x="14566900" y="9173002"/>
            <a:ext cx="6852920" cy="533400"/>
          </a:xfrm>
          <a:prstGeom prst="rect">
            <a:avLst/>
          </a:prstGeom>
          <a:noFill/>
          <a:ln/>
        </p:spPr>
        <p:txBody>
          <a:bodyPr wrap="none" lIns="0" tIns="0" rIns="0" bIns="0" rtlCol="0" anchor="t"/>
          <a:lstStyle/>
          <a:p>
            <a:pPr marL="0" indent="0" algn="l">
              <a:lnSpc>
                <a:spcPts val="4200"/>
              </a:lnSpc>
              <a:buNone/>
            </a:pPr>
            <a:r>
              <a:rPr lang="en-US" sz="3500" kern="0" spc="-39" dirty="0">
                <a:solidFill>
                  <a:srgbClr val="E1D7D0"/>
                </a:solidFill>
                <a:latin typeface="Inter" pitchFamily="34" charset="0"/>
                <a:ea typeface="Inter" pitchFamily="34" charset="-122"/>
                <a:cs typeface="Inter" pitchFamily="34" charset="-120"/>
              </a:rPr>
              <a:t>Reduce production bottlenecks</a:t>
            </a:r>
            <a:endParaRPr lang="en-US" sz="3500" dirty="0"/>
          </a:p>
        </p:txBody>
      </p:sp>
      <p:sp>
        <p:nvSpPr>
          <p:cNvPr id="14" name="featpaper-node:13:192"/>
          <p:cNvSpPr/>
          <p:nvPr/>
        </p:nvSpPr>
        <p:spPr>
          <a:xfrm>
            <a:off x="1701800" y="9925217"/>
            <a:ext cx="6687820" cy="533400"/>
          </a:xfrm>
          <a:prstGeom prst="rect">
            <a:avLst/>
          </a:prstGeom>
          <a:noFill/>
          <a:ln/>
        </p:spPr>
        <p:txBody>
          <a:bodyPr wrap="none" lIns="0" tIns="0" rIns="0" bIns="0" rtlCol="0" anchor="t"/>
          <a:lstStyle/>
          <a:p>
            <a:pPr marL="0" indent="0" algn="l">
              <a:lnSpc>
                <a:spcPts val="4200"/>
              </a:lnSpc>
              <a:buNone/>
            </a:pPr>
            <a:r>
              <a:rPr lang="en-US" sz="3500" kern="0" spc="-39" dirty="0">
                <a:solidFill>
                  <a:srgbClr val="E1D7D0"/>
                </a:solidFill>
                <a:latin typeface="Inter" pitchFamily="34" charset="0"/>
                <a:ea typeface="Inter" pitchFamily="34" charset="-122"/>
                <a:cs typeface="Inter" pitchFamily="34" charset="-120"/>
              </a:rPr>
              <a:t>Monitor achievement weekly</a:t>
            </a:r>
            <a:endParaRPr lang="en-US" sz="3500" dirty="0"/>
          </a:p>
        </p:txBody>
      </p:sp>
      <p:sp>
        <p:nvSpPr>
          <p:cNvPr id="15" name="featpaper-node:7:104"/>
          <p:cNvSpPr/>
          <p:nvPr/>
        </p:nvSpPr>
        <p:spPr>
          <a:xfrm>
            <a:off x="20116800" y="12595127"/>
            <a:ext cx="3627120" cy="482600"/>
          </a:xfrm>
          <a:prstGeom prst="rect">
            <a:avLst/>
          </a:prstGeom>
          <a:noFill/>
          <a:ln/>
        </p:spPr>
        <p:txBody>
          <a:bodyPr wrap="none" lIns="0" tIns="0" rIns="0" bIns="0" rtlCol="0" anchor="t"/>
          <a:lstStyle/>
          <a:p>
            <a:pPr marL="0" indent="0" algn="r">
              <a:lnSpc>
                <a:spcPts val="3807"/>
              </a:lnSpc>
              <a:buNone/>
            </a:pPr>
            <a:r>
              <a:rPr lang="en-US" sz="2538" kern="0" spc="-28" dirty="0">
                <a:solidFill>
                  <a:srgbClr val="FFFFFF"/>
                </a:solidFill>
                <a:latin typeface="Inter" pitchFamily="34" charset="0"/>
                <a:ea typeface="Inter" pitchFamily="34" charset="-122"/>
                <a:cs typeface="Inter" pitchFamily="34" charset="-120"/>
              </a:rPr>
              <a:t>Page | 9</a:t>
            </a:r>
            <a:endParaRPr lang="en-US" sz="2538" dirty="0"/>
          </a:p>
        </p:txBody>
      </p:sp>
      <p:sp>
        <p:nvSpPr>
          <p:cNvPr id="16" name="featpaper-node:13:186"/>
          <p:cNvSpPr/>
          <p:nvPr/>
        </p:nvSpPr>
        <p:spPr>
          <a:xfrm>
            <a:off x="14249400" y="4512807"/>
            <a:ext cx="6383020" cy="533400"/>
          </a:xfrm>
          <a:prstGeom prst="rect">
            <a:avLst/>
          </a:prstGeom>
          <a:noFill/>
          <a:ln/>
        </p:spPr>
        <p:txBody>
          <a:bodyPr wrap="none" lIns="0" tIns="0" rIns="0" bIns="0" rtlCol="0" anchor="t"/>
          <a:lstStyle/>
          <a:p>
            <a:pPr marL="0" indent="0" algn="l">
              <a:lnSpc>
                <a:spcPts val="4200"/>
              </a:lnSpc>
              <a:buNone/>
            </a:pPr>
            <a:r>
              <a:rPr lang="en-US" sz="3500" kern="0" spc="-39" dirty="0">
                <a:solidFill>
                  <a:srgbClr val="E1D7D0"/>
                </a:solidFill>
                <a:latin typeface="Inter" pitchFamily="34" charset="0"/>
                <a:ea typeface="Inter" pitchFamily="34" charset="-122"/>
                <a:cs typeface="Inter" pitchFamily="34" charset="-120"/>
              </a:rPr>
              <a:t>Review low-performing styles</a:t>
            </a:r>
            <a:endParaRPr lang="en-US" sz="3500" dirty="0"/>
          </a:p>
        </p:txBody>
      </p:sp>
      <p:sp>
        <p:nvSpPr>
          <p:cNvPr id="17" name="featpaper-node:13:196"/>
          <p:cNvSpPr/>
          <p:nvPr/>
        </p:nvSpPr>
        <p:spPr>
          <a:xfrm>
            <a:off x="14566900" y="9858802"/>
            <a:ext cx="6522720" cy="533400"/>
          </a:xfrm>
          <a:prstGeom prst="rect">
            <a:avLst/>
          </a:prstGeom>
          <a:noFill/>
          <a:ln/>
        </p:spPr>
        <p:txBody>
          <a:bodyPr wrap="none" lIns="0" tIns="0" rIns="0" bIns="0" rtlCol="0" anchor="t"/>
          <a:lstStyle/>
          <a:p>
            <a:pPr marL="0" indent="0" algn="l">
              <a:lnSpc>
                <a:spcPts val="4200"/>
              </a:lnSpc>
              <a:buNone/>
            </a:pPr>
            <a:r>
              <a:rPr lang="en-US" sz="3500" kern="0" spc="-39" dirty="0">
                <a:solidFill>
                  <a:srgbClr val="E1D7D0"/>
                </a:solidFill>
                <a:latin typeface="Inter" pitchFamily="34" charset="0"/>
                <a:ea typeface="Inter" pitchFamily="34" charset="-122"/>
                <a:cs typeface="Inter" pitchFamily="34" charset="-120"/>
              </a:rPr>
              <a:t>Strengthen shipment planning</a:t>
            </a:r>
            <a:endParaRPr lang="en-US" sz="3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featpaper-node:13:235" descr="10"/>
          <p:cNvPicPr>
            <a:picLocks noChangeAspect="1"/>
          </p:cNvPicPr>
          <p:nvPr/>
        </p:nvPicPr>
        <p:blipFill>
          <a:blip r:embed="rId3"/>
          <a:stretch>
            <a:fillRect/>
          </a:stretch>
        </p:blipFill>
        <p:spPr>
          <a:xfrm>
            <a:off x="0" y="41564"/>
            <a:ext cx="24384000" cy="13716000"/>
          </a:xfrm>
          <a:prstGeom prst="rect">
            <a:avLst/>
          </a:prstGeom>
        </p:spPr>
      </p:pic>
      <p:pic>
        <p:nvPicPr>
          <p:cNvPr id="3" name="featpaper-node:13:236" descr="Ellipse 6"/>
          <p:cNvPicPr>
            <a:picLocks noChangeAspect="1"/>
          </p:cNvPicPr>
          <p:nvPr/>
        </p:nvPicPr>
        <p:blipFill>
          <a:blip r:embed="rId4"/>
          <a:stretch>
            <a:fillRect/>
          </a:stretch>
        </p:blipFill>
        <p:spPr>
          <a:xfrm>
            <a:off x="0" y="0"/>
            <a:ext cx="13451508" cy="12820567"/>
          </a:xfrm>
          <a:prstGeom prst="rect">
            <a:avLst/>
          </a:prstGeom>
        </p:spPr>
      </p:pic>
      <p:sp>
        <p:nvSpPr>
          <p:cNvPr id="4" name="featpaper-node:13:237"/>
          <p:cNvSpPr/>
          <p:nvPr/>
        </p:nvSpPr>
        <p:spPr>
          <a:xfrm>
            <a:off x="4914900" y="1630150"/>
            <a:ext cx="11107420" cy="2286000"/>
          </a:xfrm>
          <a:prstGeom prst="rect">
            <a:avLst/>
          </a:prstGeom>
          <a:noFill/>
          <a:ln/>
        </p:spPr>
        <p:txBody>
          <a:bodyPr wrap="none" lIns="0" tIns="0" rIns="0" bIns="0" rtlCol="0" anchor="t"/>
          <a:lstStyle/>
          <a:p>
            <a:pPr marL="0" indent="0" algn="l">
              <a:lnSpc>
                <a:spcPts val="18000"/>
              </a:lnSpc>
              <a:buNone/>
            </a:pPr>
            <a:r>
              <a:rPr lang="en-US" sz="12000" kern="0" spc="-132" dirty="0">
                <a:solidFill>
                  <a:srgbClr val="1E1E1E"/>
                </a:solidFill>
                <a:latin typeface="Inter" pitchFamily="34" charset="0"/>
                <a:ea typeface="Inter" pitchFamily="34" charset="-122"/>
                <a:cs typeface="Inter" pitchFamily="34" charset="-120"/>
              </a:rPr>
              <a:t>The</a:t>
            </a:r>
            <a:r>
              <a:rPr lang="en-US" sz="12000" b="1" kern="0" spc="-132" dirty="0">
                <a:solidFill>
                  <a:srgbClr val="287293"/>
                </a:solidFill>
                <a:latin typeface="Inter" pitchFamily="34" charset="0"/>
                <a:ea typeface="Inter" pitchFamily="34" charset="-122"/>
                <a:cs typeface="Inter" pitchFamily="34" charset="-120"/>
              </a:rPr>
              <a:t> Challenger </a:t>
            </a:r>
            <a:endParaRPr lang="en-US" sz="12000" dirty="0"/>
          </a:p>
        </p:txBody>
      </p:sp>
      <p:pic>
        <p:nvPicPr>
          <p:cNvPr id="5" name="featpaper-node:13:239" descr="Shape with text"/>
          <p:cNvPicPr>
            <a:picLocks noChangeAspect="1"/>
          </p:cNvPicPr>
          <p:nvPr/>
        </p:nvPicPr>
        <p:blipFill>
          <a:blip r:embed="rId5"/>
          <a:stretch>
            <a:fillRect/>
          </a:stretch>
        </p:blipFill>
        <p:spPr>
          <a:xfrm>
            <a:off x="11243714" y="5249096"/>
            <a:ext cx="1857775" cy="1813278"/>
          </a:xfrm>
          <a:prstGeom prst="rect">
            <a:avLst/>
          </a:prstGeom>
        </p:spPr>
      </p:pic>
      <p:pic>
        <p:nvPicPr>
          <p:cNvPr id="6" name="featpaper-node:13:240" descr="Vector"/>
          <p:cNvPicPr>
            <a:picLocks noChangeAspect="1"/>
          </p:cNvPicPr>
          <p:nvPr/>
        </p:nvPicPr>
        <p:blipFill>
          <a:blip r:embed="rId6"/>
          <a:stretch>
            <a:fillRect/>
          </a:stretch>
        </p:blipFill>
        <p:spPr>
          <a:xfrm>
            <a:off x="10122520" y="7446880"/>
            <a:ext cx="4104159" cy="1813250"/>
          </a:xfrm>
          <a:prstGeom prst="rect">
            <a:avLst/>
          </a:prstGeom>
        </p:spPr>
      </p:pic>
      <p:pic>
        <p:nvPicPr>
          <p:cNvPr id="7" name="featpaper-node:13:241" descr="Vector"/>
          <p:cNvPicPr>
            <a:picLocks noChangeAspect="1"/>
          </p:cNvPicPr>
          <p:nvPr/>
        </p:nvPicPr>
        <p:blipFill>
          <a:blip r:embed="rId7"/>
          <a:stretch>
            <a:fillRect/>
          </a:stretch>
        </p:blipFill>
        <p:spPr>
          <a:xfrm>
            <a:off x="9029700" y="9579876"/>
            <a:ext cx="6289774" cy="1813278"/>
          </a:xfrm>
          <a:prstGeom prst="rect">
            <a:avLst/>
          </a:prstGeom>
        </p:spPr>
      </p:pic>
      <p:pic>
        <p:nvPicPr>
          <p:cNvPr id="8" name="featpaper-node:13:242" descr="Vector"/>
          <p:cNvPicPr>
            <a:picLocks noChangeAspect="1"/>
          </p:cNvPicPr>
          <p:nvPr/>
        </p:nvPicPr>
        <p:blipFill>
          <a:blip r:embed="rId8"/>
          <a:stretch>
            <a:fillRect/>
          </a:stretch>
        </p:blipFill>
        <p:spPr>
          <a:xfrm>
            <a:off x="12171412" y="5935825"/>
            <a:ext cx="3189412" cy="167699"/>
          </a:xfrm>
          <a:prstGeom prst="rect">
            <a:avLst/>
          </a:prstGeom>
        </p:spPr>
      </p:pic>
      <p:sp>
        <p:nvSpPr>
          <p:cNvPr id="9" name="featpaper-node:13:243"/>
          <p:cNvSpPr/>
          <p:nvPr/>
        </p:nvSpPr>
        <p:spPr>
          <a:xfrm>
            <a:off x="15833923" y="4874064"/>
            <a:ext cx="2522220" cy="673100"/>
          </a:xfrm>
          <a:prstGeom prst="rect">
            <a:avLst/>
          </a:prstGeom>
          <a:noFill/>
          <a:ln/>
        </p:spPr>
        <p:txBody>
          <a:bodyPr wrap="none" lIns="0" tIns="0" rIns="0" bIns="0" rtlCol="0" anchor="t"/>
          <a:lstStyle/>
          <a:p>
            <a:pPr marL="0" indent="0" algn="l">
              <a:lnSpc>
                <a:spcPts val="5282"/>
              </a:lnSpc>
              <a:buNone/>
            </a:pPr>
            <a:r>
              <a:rPr lang="en-US" sz="3521" b="1" kern="0" spc="-39" dirty="0">
                <a:solidFill>
                  <a:srgbClr val="287293"/>
                </a:solidFill>
                <a:latin typeface="Inter" pitchFamily="34" charset="0"/>
                <a:ea typeface="Inter" pitchFamily="34" charset="-122"/>
                <a:cs typeface="Inter" pitchFamily="34" charset="-120"/>
              </a:rPr>
              <a:t>For 10 Days</a:t>
            </a:r>
            <a:endParaRPr lang="en-US" sz="3521" dirty="0"/>
          </a:p>
        </p:txBody>
      </p:sp>
      <p:pic>
        <p:nvPicPr>
          <p:cNvPr id="10" name="featpaper-node:13:244" descr="Vector"/>
          <p:cNvPicPr>
            <a:picLocks noChangeAspect="1"/>
          </p:cNvPicPr>
          <p:nvPr/>
        </p:nvPicPr>
        <p:blipFill>
          <a:blip r:embed="rId9"/>
          <a:stretch>
            <a:fillRect/>
          </a:stretch>
        </p:blipFill>
        <p:spPr>
          <a:xfrm>
            <a:off x="13666688" y="10103236"/>
            <a:ext cx="3189387" cy="167700"/>
          </a:xfrm>
          <a:prstGeom prst="rect">
            <a:avLst/>
          </a:prstGeom>
        </p:spPr>
      </p:pic>
      <p:sp>
        <p:nvSpPr>
          <p:cNvPr id="11" name="featpaper-node:13:245"/>
          <p:cNvSpPr/>
          <p:nvPr/>
        </p:nvSpPr>
        <p:spPr>
          <a:xfrm>
            <a:off x="17368788" y="9046427"/>
            <a:ext cx="2598420" cy="673100"/>
          </a:xfrm>
          <a:prstGeom prst="rect">
            <a:avLst/>
          </a:prstGeom>
          <a:noFill/>
          <a:ln/>
        </p:spPr>
        <p:txBody>
          <a:bodyPr wrap="none" lIns="0" tIns="0" rIns="0" bIns="0" rtlCol="0" anchor="t"/>
          <a:lstStyle/>
          <a:p>
            <a:pPr marL="0" indent="0" algn="l">
              <a:lnSpc>
                <a:spcPts val="5282"/>
              </a:lnSpc>
              <a:buNone/>
            </a:pPr>
            <a:r>
              <a:rPr lang="en-US" sz="3521" b="1" kern="0" spc="-39" dirty="0">
                <a:solidFill>
                  <a:srgbClr val="033145"/>
                </a:solidFill>
                <a:latin typeface="Inter" pitchFamily="34" charset="0"/>
                <a:ea typeface="Inter" pitchFamily="34" charset="-122"/>
                <a:cs typeface="Inter" pitchFamily="34" charset="-120"/>
              </a:rPr>
              <a:t>For 30 Days</a:t>
            </a:r>
            <a:endParaRPr lang="en-US" sz="3521" dirty="0"/>
          </a:p>
        </p:txBody>
      </p:sp>
      <p:pic>
        <p:nvPicPr>
          <p:cNvPr id="12" name="featpaper-node:13:246" descr="Vector"/>
          <p:cNvPicPr>
            <a:picLocks noChangeAspect="1"/>
          </p:cNvPicPr>
          <p:nvPr/>
        </p:nvPicPr>
        <p:blipFill>
          <a:blip r:embed="rId10"/>
          <a:stretch>
            <a:fillRect/>
          </a:stretch>
        </p:blipFill>
        <p:spPr>
          <a:xfrm>
            <a:off x="8424292" y="7956712"/>
            <a:ext cx="3189387" cy="167699"/>
          </a:xfrm>
          <a:prstGeom prst="rect">
            <a:avLst/>
          </a:prstGeom>
        </p:spPr>
      </p:pic>
      <p:sp>
        <p:nvSpPr>
          <p:cNvPr id="13" name="featpaper-node:13:247"/>
          <p:cNvSpPr/>
          <p:nvPr/>
        </p:nvSpPr>
        <p:spPr>
          <a:xfrm>
            <a:off x="2133600" y="6866335"/>
            <a:ext cx="2585720" cy="673100"/>
          </a:xfrm>
          <a:prstGeom prst="rect">
            <a:avLst/>
          </a:prstGeom>
          <a:noFill/>
          <a:ln/>
        </p:spPr>
        <p:txBody>
          <a:bodyPr wrap="none" lIns="0" tIns="0" rIns="0" bIns="0" rtlCol="0" anchor="t"/>
          <a:lstStyle/>
          <a:p>
            <a:pPr marL="0" indent="0" algn="l">
              <a:lnSpc>
                <a:spcPts val="5282"/>
              </a:lnSpc>
              <a:buNone/>
            </a:pPr>
            <a:r>
              <a:rPr lang="en-US" sz="3521" b="1" kern="0" spc="-39" dirty="0">
                <a:solidFill>
                  <a:srgbClr val="D94D28"/>
                </a:solidFill>
                <a:latin typeface="Inter" pitchFamily="34" charset="0"/>
                <a:ea typeface="Inter" pitchFamily="34" charset="-122"/>
                <a:cs typeface="Inter" pitchFamily="34" charset="-120"/>
              </a:rPr>
              <a:t>For 20 Days</a:t>
            </a:r>
            <a:endParaRPr lang="en-US" sz="3521" dirty="0"/>
          </a:p>
        </p:txBody>
      </p:sp>
      <p:sp>
        <p:nvSpPr>
          <p:cNvPr id="14" name="featpaper-node:13:248"/>
          <p:cNvSpPr/>
          <p:nvPr/>
        </p:nvSpPr>
        <p:spPr>
          <a:xfrm>
            <a:off x="2133600" y="7685802"/>
            <a:ext cx="5430520" cy="990600"/>
          </a:xfrm>
          <a:prstGeom prst="rect">
            <a:avLst/>
          </a:prstGeom>
          <a:noFill/>
          <a:ln/>
        </p:spPr>
        <p:txBody>
          <a:bodyPr wrap="square" lIns="0" tIns="0" rIns="0" bIns="0" rtlCol="0" anchor="t"/>
          <a:lstStyle/>
          <a:p>
            <a:pPr marL="0" indent="0" algn="l">
              <a:lnSpc>
                <a:spcPts val="3877"/>
              </a:lnSpc>
              <a:buNone/>
            </a:pPr>
            <a:r>
              <a:rPr lang="en-US" sz="2872" kern="0" spc="-32" dirty="0">
                <a:solidFill>
                  <a:srgbClr val="262626"/>
                </a:solidFill>
                <a:latin typeface="Inter" pitchFamily="34" charset="0"/>
                <a:ea typeface="Inter" pitchFamily="34" charset="-122"/>
                <a:cs typeface="Inter" pitchFamily="34" charset="-120"/>
              </a:rPr>
              <a:t>1-Improve OTD performance</a:t>
            </a:r>
            <a:endParaRPr lang="en-US" sz="2872" dirty="0"/>
          </a:p>
          <a:p>
            <a:pPr marL="0" indent="0" algn="l">
              <a:lnSpc>
                <a:spcPts val="3877"/>
              </a:lnSpc>
              <a:buNone/>
            </a:pPr>
            <a:r>
              <a:rPr lang="en-US" sz="2872" kern="0" spc="-32" dirty="0">
                <a:solidFill>
                  <a:srgbClr val="262626"/>
                </a:solidFill>
                <a:latin typeface="Inter" pitchFamily="34" charset="0"/>
                <a:ea typeface="Inter" pitchFamily="34" charset="-122"/>
                <a:cs typeface="Inter" pitchFamily="34" charset="-120"/>
              </a:rPr>
              <a:t>2-Reduce average delays</a:t>
            </a:r>
            <a:endParaRPr lang="en-US" sz="2872" dirty="0"/>
          </a:p>
        </p:txBody>
      </p:sp>
      <p:sp>
        <p:nvSpPr>
          <p:cNvPr id="15" name="featpaper-node:13:249"/>
          <p:cNvSpPr/>
          <p:nvPr/>
        </p:nvSpPr>
        <p:spPr>
          <a:xfrm>
            <a:off x="15836900" y="5679234"/>
            <a:ext cx="6992620" cy="1011066"/>
          </a:xfrm>
          <a:prstGeom prst="rect">
            <a:avLst/>
          </a:prstGeom>
          <a:noFill/>
          <a:ln/>
        </p:spPr>
        <p:txBody>
          <a:bodyPr wrap="square" lIns="0" tIns="0" rIns="0" bIns="0" rtlCol="0" anchor="t"/>
          <a:lstStyle/>
          <a:p>
            <a:pPr marL="0" indent="0" algn="l">
              <a:lnSpc>
                <a:spcPts val="3877"/>
              </a:lnSpc>
              <a:buNone/>
            </a:pPr>
            <a:r>
              <a:rPr lang="en-US" sz="2872" kern="0" spc="-32" dirty="0">
                <a:solidFill>
                  <a:srgbClr val="262626"/>
                </a:solidFill>
                <a:latin typeface="Inter" pitchFamily="34" charset="0"/>
                <a:ea typeface="Inter" pitchFamily="34" charset="-122"/>
                <a:cs typeface="Inter" pitchFamily="34" charset="-120"/>
              </a:rPr>
              <a:t>1-Implement Early Warning Dashboard</a:t>
            </a:r>
            <a:endParaRPr lang="en-US" sz="2872" dirty="0"/>
          </a:p>
          <a:p>
            <a:pPr marL="0" indent="0" algn="l">
              <a:lnSpc>
                <a:spcPts val="3877"/>
              </a:lnSpc>
              <a:buNone/>
            </a:pPr>
            <a:r>
              <a:rPr lang="en-US" sz="2872" kern="0" spc="-32" dirty="0">
                <a:solidFill>
                  <a:srgbClr val="262626"/>
                </a:solidFill>
                <a:latin typeface="Inter" pitchFamily="34" charset="0"/>
                <a:ea typeface="Inter" pitchFamily="34" charset="-122"/>
                <a:cs typeface="Inter" pitchFamily="34" charset="-120"/>
              </a:rPr>
              <a:t>2-Weekly KPI review meetings
</a:t>
            </a:r>
            <a:endParaRPr lang="en-US" sz="2872" dirty="0"/>
          </a:p>
          <a:p>
            <a:pPr marL="0" indent="0" algn="l">
              <a:lnSpc>
                <a:spcPts val="3877"/>
              </a:lnSpc>
              <a:buNone/>
            </a:pPr>
            <a:r>
              <a:rPr lang="en-US" sz="2872" kern="0" spc="-32" dirty="0">
                <a:solidFill>
                  <a:srgbClr val="262626"/>
                </a:solidFill>
                <a:latin typeface="Inter" pitchFamily="34" charset="0"/>
                <a:ea typeface="Inter" pitchFamily="34" charset="-122"/>
                <a:cs typeface="Inter" pitchFamily="34" charset="-120"/>
              </a:rPr>
              <a:t>3-Investigate high-risk customers</a:t>
            </a:r>
            <a:endParaRPr lang="en-US" sz="2872" dirty="0"/>
          </a:p>
        </p:txBody>
      </p:sp>
      <p:sp>
        <p:nvSpPr>
          <p:cNvPr id="16" name="featpaper-node:13:250"/>
          <p:cNvSpPr/>
          <p:nvPr/>
        </p:nvSpPr>
        <p:spPr>
          <a:xfrm>
            <a:off x="17373600" y="9806734"/>
            <a:ext cx="6738620" cy="990600"/>
          </a:xfrm>
          <a:prstGeom prst="rect">
            <a:avLst/>
          </a:prstGeom>
          <a:noFill/>
          <a:ln/>
        </p:spPr>
        <p:txBody>
          <a:bodyPr wrap="square" lIns="0" tIns="0" rIns="0" bIns="0" rtlCol="0" anchor="t"/>
          <a:lstStyle/>
          <a:p>
            <a:pPr marL="0" indent="0" algn="l">
              <a:lnSpc>
                <a:spcPts val="3877"/>
              </a:lnSpc>
              <a:buNone/>
            </a:pPr>
            <a:r>
              <a:rPr lang="en-US" sz="2872" kern="0" spc="-32" dirty="0">
                <a:solidFill>
                  <a:srgbClr val="262626"/>
                </a:solidFill>
                <a:latin typeface="Inter" pitchFamily="34" charset="0"/>
                <a:ea typeface="Inter" pitchFamily="34" charset="-122"/>
                <a:cs typeface="Inter" pitchFamily="34" charset="-120"/>
              </a:rPr>
              <a:t>1-Increase achievement above 95%</a:t>
            </a:r>
            <a:endParaRPr lang="en-US" sz="2872" dirty="0"/>
          </a:p>
          <a:p>
            <a:pPr marL="0" indent="0" algn="l">
              <a:lnSpc>
                <a:spcPts val="3877"/>
              </a:lnSpc>
              <a:buNone/>
            </a:pPr>
            <a:r>
              <a:rPr lang="en-US" sz="2872" kern="0" spc="-32" dirty="0">
                <a:solidFill>
                  <a:srgbClr val="262626"/>
                </a:solidFill>
                <a:latin typeface="Inter" pitchFamily="34" charset="0"/>
                <a:ea typeface="Inter" pitchFamily="34" charset="-122"/>
                <a:cs typeface="Inter" pitchFamily="34" charset="-120"/>
              </a:rPr>
              <a:t>2-Recover declining customer volume</a:t>
            </a:r>
            <a:endParaRPr lang="en-US" sz="2872" dirty="0"/>
          </a:p>
        </p:txBody>
      </p:sp>
      <p:sp>
        <p:nvSpPr>
          <p:cNvPr id="17" name="featpaper-node:13:252"/>
          <p:cNvSpPr/>
          <p:nvPr/>
        </p:nvSpPr>
        <p:spPr>
          <a:xfrm>
            <a:off x="20116800" y="12595127"/>
            <a:ext cx="3627120" cy="482600"/>
          </a:xfrm>
          <a:prstGeom prst="rect">
            <a:avLst/>
          </a:prstGeom>
          <a:noFill/>
          <a:ln/>
        </p:spPr>
        <p:txBody>
          <a:bodyPr wrap="none" lIns="0" tIns="0" rIns="0" bIns="0" rtlCol="0" anchor="t"/>
          <a:lstStyle/>
          <a:p>
            <a:pPr marL="0" indent="0" algn="r">
              <a:lnSpc>
                <a:spcPts val="3807"/>
              </a:lnSpc>
              <a:buNone/>
            </a:pPr>
            <a:r>
              <a:rPr lang="en-US" sz="2538" kern="0" spc="-28" dirty="0">
                <a:solidFill>
                  <a:srgbClr val="000000"/>
                </a:solidFill>
                <a:latin typeface="Inter" pitchFamily="34" charset="0"/>
                <a:ea typeface="Inter" pitchFamily="34" charset="-122"/>
                <a:cs typeface="Inter" pitchFamily="34" charset="-120"/>
              </a:rPr>
              <a:t>Page | 10</a:t>
            </a:r>
            <a:endParaRPr lang="en-US" sz="2538"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1D7D0"/>
        </a:solidFill>
        <a:effectLst/>
      </p:bgPr>
    </p:bg>
    <p:spTree>
      <p:nvGrpSpPr>
        <p:cNvPr id="1" name=""/>
        <p:cNvGrpSpPr/>
        <p:nvPr/>
      </p:nvGrpSpPr>
      <p:grpSpPr>
        <a:xfrm>
          <a:off x="0" y="0"/>
          <a:ext cx="0" cy="0"/>
          <a:chOff x="0" y="0"/>
          <a:chExt cx="0" cy="0"/>
        </a:xfrm>
      </p:grpSpPr>
      <p:pic>
        <p:nvPicPr>
          <p:cNvPr id="2" name="featpaper-node:14:323" descr="11"/>
          <p:cNvPicPr>
            <a:picLocks noChangeAspect="1"/>
          </p:cNvPicPr>
          <p:nvPr/>
        </p:nvPicPr>
        <p:blipFill>
          <a:blip r:embed="rId3"/>
          <a:stretch>
            <a:fillRect/>
          </a:stretch>
        </p:blipFill>
        <p:spPr>
          <a:xfrm>
            <a:off x="0" y="0"/>
            <a:ext cx="24384000" cy="13716000"/>
          </a:xfrm>
          <a:prstGeom prst="rect">
            <a:avLst/>
          </a:prstGeom>
        </p:spPr>
      </p:pic>
      <p:pic>
        <p:nvPicPr>
          <p:cNvPr id="3" name="featpaper-node:14:324" descr="Ellipse 7"/>
          <p:cNvPicPr>
            <a:picLocks noChangeAspect="1"/>
          </p:cNvPicPr>
          <p:nvPr/>
        </p:nvPicPr>
        <p:blipFill>
          <a:blip r:embed="rId4"/>
          <a:stretch>
            <a:fillRect/>
          </a:stretch>
        </p:blipFill>
        <p:spPr>
          <a:xfrm>
            <a:off x="10454853" y="2889262"/>
            <a:ext cx="13929147" cy="10826738"/>
          </a:xfrm>
          <a:prstGeom prst="rect">
            <a:avLst/>
          </a:prstGeom>
        </p:spPr>
      </p:pic>
      <p:pic>
        <p:nvPicPr>
          <p:cNvPr id="4" name="featpaper-node:14:325" descr="Ellipse 6"/>
          <p:cNvPicPr>
            <a:picLocks noChangeAspect="1"/>
          </p:cNvPicPr>
          <p:nvPr/>
        </p:nvPicPr>
        <p:blipFill>
          <a:blip r:embed="rId5"/>
          <a:stretch>
            <a:fillRect/>
          </a:stretch>
        </p:blipFill>
        <p:spPr>
          <a:xfrm>
            <a:off x="0" y="0"/>
            <a:ext cx="16996544" cy="13716000"/>
          </a:xfrm>
          <a:prstGeom prst="rect">
            <a:avLst/>
          </a:prstGeom>
        </p:spPr>
      </p:pic>
      <p:sp>
        <p:nvSpPr>
          <p:cNvPr id="5" name="featpaper-node:14:326"/>
          <p:cNvSpPr/>
          <p:nvPr/>
        </p:nvSpPr>
        <p:spPr>
          <a:xfrm>
            <a:off x="6705600" y="4889500"/>
            <a:ext cx="11031220" cy="3251200"/>
          </a:xfrm>
          <a:prstGeom prst="rect">
            <a:avLst/>
          </a:prstGeom>
          <a:noFill/>
          <a:ln/>
        </p:spPr>
        <p:txBody>
          <a:bodyPr wrap="none" lIns="0" tIns="0" rIns="0" bIns="0" rtlCol="0" anchor="t"/>
          <a:lstStyle/>
          <a:p>
            <a:pPr marL="0" indent="0" algn="ctr">
              <a:lnSpc>
                <a:spcPts val="25600"/>
              </a:lnSpc>
              <a:buNone/>
            </a:pPr>
            <a:r>
              <a:rPr lang="en-US" sz="17067" b="1" kern="0" spc="-188" dirty="0">
                <a:solidFill>
                  <a:srgbClr val="033145"/>
                </a:solidFill>
                <a:latin typeface="Inter" pitchFamily="34" charset="0"/>
                <a:ea typeface="Inter" pitchFamily="34" charset="-122"/>
                <a:cs typeface="Inter" pitchFamily="34" charset="-120"/>
              </a:rPr>
              <a:t>Thank You</a:t>
            </a:r>
            <a:endParaRPr lang="en-US" sz="17067"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1"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32d7824-1b93-4cea-862a-d0599a055af4}">
  <we:reference id="wa200006521" version="1.0.0.1" store="en-US"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TotalTime>
  <Words>790</Words>
  <Application>Microsoft Office PowerPoint</Application>
  <PresentationFormat>Custom</PresentationFormat>
  <Paragraphs>127</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Inter</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Ahmed Rashad</cp:lastModifiedBy>
  <cp:revision>2</cp:revision>
  <dcterms:created xsi:type="dcterms:W3CDTF">2026-06-26T08:41:40Z</dcterms:created>
  <dcterms:modified xsi:type="dcterms:W3CDTF">2026-10-22T11:33:28Z</dcterms:modified>
</cp:coreProperties>
</file>

<file path=feat-data/flattenedVisuals.xml><?xml version="1.0" encoding="utf-8"?>
<featFlattenedVisualMap version="1">
  <item slide="0" elementIndex="0" elementId="2" sourceNodeId="1:29" x="0" y="0" width="1" height="1" visualJson="{&quot;version&quot;:1,&quot;sourceNodeId&quot;:&quot;1:29&quot;,&quot;nodeName&quot;:&quot;1&quot;,&quot;nodeType&quot;:&quot;SLIDE&quot;,&quot;renderStrategy&quot;:&quot;flattened-blend&quot;,&quot;reason&quot;:[&quot;effects&quot;],&quot;rendered&quot;:{&quot;mimeType&quot;:&quot;image/png&quot;,&quot;strategy&quot;:&quot;regularNodeExport&quot;,&quot;path&quot;:&quot;ppt/media/image-1-1.png&quot;},&quot;sources&quot;:[{&quot;type&quot;:&quot;SOLID&quot;,&quot;fillIndex&quot;:0,&quot;sourceNodeId&quot;:&quot;1:29&quot;,&quot;sourceNodeName&quot;:&quot;1&quot;,&quot;sourceNodeType&quot;:&quot;SLIDE&quot;,&quot;blendMode&quot;:&quot;NORMAL&quot;,&quot;opacity&quot;:1,&quot;color&quot;:{&quot;r&quot;:0.8509804010391235,&quot;g&quot;:0.3019607961177826,&quot;b&quot;:0.1568627506494522}},{&quot;type&quot;:&quot;SOLID&quot;,&quot;fillIndex&quot;:0,&quot;sourceNodeId&quot;:&quot;1:30&quot;,&quot;sourceNodeName&quot;:&quot;Ellipse 6&quot;,&quot;sourceNodeType&quot;:&quot;ELLIPSE&quot;,&quot;blendMode&quot;:&quot;NORMAL&quot;,&quot;opacity&quot;:1,&quot;color&quot;:{&quot;r&quot;:1,&quot;g&quot;:1,&quot;b&quot;:1}},{&quot;type&quot;:&quot;SOLID&quot;,&quot;fillIndex&quot;:0,&quot;sourceNodeId&quot;:&quot;1:31&quot;,&quot;sourceNodeName&quot;:&quot;Ellipse 7&quot;,&quot;sourceNodeType&quot;:&quot;ELLIPSE&quot;,&quot;blendMode&quot;:&quot;NORMAL&quot;,&quot;opacity&quot;:1,&quot;color&quot;:{&quot;r&quot;:1,&quot;g&quot;:1,&quot;b&quot;:1}},{&quot;type&quot;:&quot;SOLID&quot;,&quot;fillIndex&quot;:0,&quot;sourceNodeId&quot;:&quot;1:32&quot;,&quot;sourceNodeName&quot;:&quot;Dice Performance&quot;,&quot;sourceNodeType&quot;:&quot;TEXT&quot;,&quot;blendMode&quot;:&quot;NORMAL&quot;,&quot;opacity&quot;:1,&quot;color&quot;:{&quot;r&quot;:1,&quot;g&quot;:1,&quot;b&quot;:1}},{&quot;type&quot;:&quot;SOLID&quot;,&quot;fillIndex&quot;:0,&quot;sourceNodeId&quot;:&quot;1:33&quot;,&quot;sourceNodeName&quot;:&quot;SINCE 1989 Group&quot;,&quot;sourceNodeType&quot;:&quot;TEXT&quot;,&quot;blendMode&quot;:&quot;NORMAL&quot;,&quot;opacity&quot;:1,&quot;color&quot;:{&quot;r&quot;:1,&quot;g&quot;:1,&quot;b&quot;:1}},{&quot;type&quot;:&quot;SOLID&quot;,&quot;fillIndex&quot;:0,&quot;sourceNodeId&quot;:&quot;1:34&quot;,&quot;sourceNodeName&quot;:&quot;www.linkedin.com/in/ahmed-rashad-48b979218&quot;,&quot;sourceNodeType&quot;:&quot;TEXT&quot;,&quot;blendMode&quot;:&quot;NORMAL&quot;,&quot;opacity&quot;:1,&quot;color&quot;:{&quot;r&quot;:1,&quot;g&quot;:1,&quot;b&quot;:1}},{&quot;type&quot;:&quot;SOLID&quot;,&quot;fillIndex&quot;:0,&quot;sourceNodeId&quot;:&quot;1:35&quot;,&quot;sourceNodeName&quot;:&quot;Linkedin&quot;,&quot;sourceNodeType&quot;:&quot;TEXT&quot;,&quot;blendMode&quot;:&quot;NORMAL&quot;,&quot;opacity&quot;:1,&quot;color&quot;:{&quot;r&quot;:1,&quot;g&quot;:1,&quot;b&quot;:1}},{&quot;type&quot;:&quot;SOLID&quot;,&quot;fillIndex&quot;:0,&quot;sourceNodeId&quot;:&quot;1:36&quot;,&quot;sourceNodeName&quot;:&quot;welcome&quot;,&quot;sourceNodeType&quot;:&quot;TEXT&quot;,&quot;blendMode&quot;:&quot;NORMAL&quot;,&quot;opacity&quot;:1,&quot;color&quot;:{&quot;r&quot;:1,&quot;g&quot;:1,&quot;b&quot;:1}}]}"/>
  <item slide="0" elementIndex="1" elementId="3" sourceNodeId="1:30" x="0" y="0" width="0.6553701798121134" height="0.8736957691333912" visualJson="{&quot;version&quot;:1,&quot;sourceNodeId&quot;:&quot;1:30&quot;,&quot;nodeName&quot;:&quot;Ellipse 6&quot;,&quot;nodeType&quot;:&quot;ELLIPSE&quot;,&quot;renderStrategy&quot;:&quot;flattened-blend&quot;,&quot;reason&quot;:[&quot;effects&quot;],&quot;rendered&quot;:{&quot;mimeType&quot;:&quot;image/png&quot;,&quot;strategy&quot;:&quot;regularNodeExport&quot;,&quot;path&quot;:&quot;ppt/media/image-1-2.png&quot;},&quot;sources&quot;:[{&quot;type&quot;:&quot;SOLID&quot;,&quot;fillIndex&quot;:0,&quot;sourceNodeId&quot;:&quot;1:30&quot;,&quot;sourceNodeName&quot;:&quot;Ellipse 6&quot;,&quot;sourceNodeType&quot;:&quot;ELLIPSE&quot;,&quot;blendMode&quot;:&quot;NORMAL&quot;,&quot;opacity&quot;:1,&quot;color&quot;:{&quot;r&quot;:1,&quot;g&quot;:1,&quot;b&quot;:1}}]}"/>
  <item slide="0" elementIndex="2" elementId="4" sourceNodeId="1:31" x="0.4850735346476237" y="0.12720783374927663" width="0.5149264653523763" height="0.8727921662507234" visualJson="{&quot;version&quot;:1,&quot;sourceNodeId&quot;:&quot;1:31&quot;,&quot;nodeName&quot;:&quot;Ellipse 7&quot;,&quot;nodeType&quot;:&quot;ELLIPSE&quot;,&quot;renderStrategy&quot;:&quot;flattened-blend&quot;,&quot;reason&quot;:[&quot;effects&quot;],&quot;rendered&quot;:{&quot;mimeType&quot;:&quot;image/png&quot;,&quot;strategy&quot;:&quot;regularNodeExport&quot;,&quot;path&quot;:&quot;ppt/media/image-1-3.png&quot;},&quot;sources&quot;:[{&quot;type&quot;:&quot;SOLID&quot;,&quot;fillIndex&quot;:0,&quot;sourceNodeId&quot;:&quot;1:31&quot;,&quot;sourceNodeName&quot;:&quot;Ellipse 7&quot;,&quot;sourceNodeType&quot;:&quot;ELLIPSE&quot;,&quot;blendMode&quot;:&quot;NORMAL&quot;,&quot;opacity&quot;:1,&quot;color&quot;:{&quot;r&quot;:1,&quot;g&quot;:1,&quot;b&quot;:1}}]}"/>
  <item slide="1" elementIndex="0" elementId="2" sourceNodeId="1:66" x="0" y="0" width="1" height="1" visualJson="{&quot;version&quot;:1,&quot;sourceNodeId&quot;:&quot;1:66&quot;,&quot;nodeName&quot;:&quot;2&quot;,&quot;nodeType&quot;:&quot;SLIDE&quot;,&quot;renderStrategy&quot;:&quot;flattened-blend&quot;,&quot;reason&quot;:[&quot;effects&quot;],&quot;rendered&quot;:{&quot;mimeType&quot;:&quot;image/png&quot;,&quot;strategy&quot;:&quot;regularNodeExport&quot;,&quot;path&quot;:&quot;ppt/media/image-2-1.png&quot;},&quot;sources&quot;:[{&quot;type&quot;:&quot;SOLID&quot;,&quot;fillIndex&quot;:0,&quot;sourceNodeId&quot;:&quot;1:66&quot;,&quot;sourceNodeName&quot;:&quot;2&quot;,&quot;sourceNodeType&quot;:&quot;SLIDE&quot;,&quot;blendMode&quot;:&quot;NORMAL&quot;,&quot;opacity&quot;:1,&quot;color&quot;:{&quot;r&quot;:0.8823529481887817,&quot;g&quot;:0.843137264251709,&quot;b&quot;:0.8156862854957581}},{&quot;type&quot;:&quot;SOLID&quot;,&quot;fillIndex&quot;:0,&quot;sourceNodeId&quot;:&quot;1:67&quot;,&quot;sourceNodeName&quot;:&quot;Welcome to our Business Performance Review. In this presentation, we will analyze sales performance, customer and style trends, production efficiency, delivery reliability, and key business risks. Based on our findings, we will present strategic recommendations and next steps to improve profitability, operational performance, and customer satisfaction.&quot;,&quot;sourceNodeType&quot;:&quot;TEXT&quot;,&quot;blendMode&quot;:&quot;NORMAL&quot;,&quot;opacity&quot;:1,&quot;color&quot;:{&quot;r&quot;:0.1568627506494522,&quot;g&quot;:0.4470588266849518,&quot;b&quot;:0.5764706134796143}},{&quot;type&quot;:&quot;SOLID&quot;,&quot;fillIndex&quot;:0,&quot;sourceNodeId&quot;:&quot;1:68&quot;,&quot;sourceNodeName&quot;:&quot;Page | 2&quot;,&quot;sourceNodeType&quot;:&quot;TEXT&quot;,&quot;blendMode&quot;:&quot;NORMAL&quot;,&quot;opacity&quot;:1,&quot;color&quot;:{&quot;r&quot;:0,&quot;g&quot;:0,&quot;b&quot;:0}},{&quot;type&quot;:&quot;SOLID&quot;,&quot;fillIndex&quot;:0,&quot;sourceNodeId&quot;:&quot;1:71&quot;,&quot;sourceNodeName&quot;:&quot;Ellipse 6&quot;,&quot;sourceNodeType&quot;:&quot;ELLIPSE&quot;,&quot;blendMode&quot;:&quot;NORMAL&quot;,&quot;opacity&quot;:1,&quot;color&quot;:{&quot;r&quot;:0.8509804010391235,&quot;g&quot;:0.3019607961177826,&quot;b&quot;:0.1568627506494522}}]}"/>
  <item slide="1" elementIndex="3" elementId="5" sourceNodeId="1:71" x="0.31648699442545575" y="0" width="0.6835130055745443" height="1" visualJson="{&quot;version&quot;:1,&quot;sourceNodeId&quot;:&quot;1:71&quot;,&quot;nodeName&quot;:&quot;Ellipse 6&quot;,&quot;nodeType&quot;:&quot;ELLIPSE&quot;,&quot;renderStrategy&quot;:&quot;flattened-blend&quot;,&quot;reason&quot;:[&quot;effects&quot;],&quot;rendered&quot;:{&quot;mimeType&quot;:&quot;image/png&quot;,&quot;strategy&quot;:&quot;regularNodeExport&quot;,&quot;path&quot;:&quot;ppt/media/image-2-2.png&quot;},&quot;sources&quot;:[{&quot;type&quot;:&quot;SOLID&quot;,&quot;fillIndex&quot;:0,&quot;sourceNodeId&quot;:&quot;1:71&quot;,&quot;sourceNodeName&quot;:&quot;Ellipse 6&quot;,&quot;sourceNodeType&quot;:&quot;ELLIPSE&quot;,&quot;blendMode&quot;:&quot;NORMAL&quot;,&quot;opacity&quot;:1,&quot;color&quot;:{&quot;r&quot;:0.8509804010391235,&quot;g&quot;:0.3019607961177826,&quot;b&quot;:0.1568627506494522}}]}"/>
  <item slide="2" elementIndex="0" elementId="2" sourceNodeId="1:82" x="0" y="0" width="1" height="1" visualJson="{&quot;version&quot;:1,&quot;sourceNodeId&quot;:&quot;1:82&quot;,&quot;nodeName&quot;:&quot;3&quot;,&quot;nodeType&quot;:&quot;SLIDE&quot;,&quot;renderStrategy&quot;:&quot;flattened-blend&quot;,&quot;reason&quot;:[&quot;effects&quot;],&quot;rendered&quot;:{&quot;mimeType&quot;:&quot;image/png&quot;,&quot;strategy&quot;:&quot;regularNodeExport&quot;,&quot;path&quot;:&quot;ppt/media/image-3-1.png&quot;},&quot;sources&quot;:[{&quot;type&quot;:&quot;SOLID&quot;,&quot;fillIndex&quot;:0,&quot;sourceNodeId&quot;:&quot;1:82&quot;,&quot;sourceNodeName&quot;:&quot;3&quot;,&quot;sourceNodeType&quot;:&quot;SLIDE&quot;,&quot;blendMode&quot;:&quot;NORMAL&quot;,&quot;opacity&quot;:1,&quot;color&quot;:{&quot;r&quot;:0.1568627506494522,&quot;g&quot;:0.4470588266849518,&quot;b&quot;:0.5764706134796143}},{&quot;type&quot;:&quot;SOLID&quot;,&quot;fillIndex&quot;:0,&quot;sourceNodeId&quot;:&quot;1:83&quot;,&quot;sourceNodeName&quot;:&quot;Ellipse 6&quot;,&quot;sourceNodeType&quot;:&quot;ELLIPSE&quot;,&quot;blendMode&quot;:&quot;NORMAL&quot;,&quot;opacity&quot;:1,&quot;color&quot;:{&quot;r&quot;:0.8509804010391235,&quot;g&quot;:0.3019607961177826,&quot;b&quot;:0.1568627506494522}},{&quot;type&quot;:&quot;SOLID&quot;,&quot;fillIndex&quot;:0,&quot;sourceNodeId&quot;:&quot;1:86&quot;,&quot;sourceNodeName&quot;:&quot;Summery Dashboard&quot;,&quot;sourceNodeType&quot;:&quot;TEXT&quot;,&quot;blendMode&quot;:&quot;NORMAL&quot;,&quot;opacity&quot;:1,&quot;color&quot;:{&quot;r&quot;:0.8823529481887817,&quot;g&quot;:0.843137264251709,&quot;b&quot;:0.8156862854957581}},{&quot;type&quot;:&quot;SOLID&quot;,&quot;fillIndex&quot;:0,&quot;sourceNodeId&quot;:&quot;1:124&quot;,&quot;sourceNodeName&quot;:&quot;KPIS:&quot;,&quot;sourceNodeType&quot;:&quot;TEXT&quot;,&quot;blendMode&quot;:&quot;NORMAL&quot;,&quot;opacity&quot;:1,&quot;color&quot;:{&quot;r&quot;:0.8823529481887817,&quot;g&quot;:0.843137264251709,&quot;b&quot;:0.8156862854957581}},{&quot;type&quot;:&quot;SOLID&quot;,&quot;fillIndex&quot;:0,&quot;sourceNodeId&quot;:&quot;1:134&quot;,&quot;sourceNodeName&quot;:&quot;Insight:&quot;,&quot;sourceNodeType&quot;:&quot;TEXT&quot;,&quot;blendMode&quot;:&quot;NORMAL&quot;,&quot;opacity&quot;:1,&quot;color&quot;:{&quot;r&quot;:0.8823529481887817,&quot;g&quot;:0.843137264251709,&quot;b&quot;:0.8156862854957581}},{&quot;type&quot;:&quot;SOLID&quot;,&quot;fillIndex&quot;:0,&quot;sourceNodeId&quot;:&quot;1:126&quot;,&quot;sourceNodeName&quot;:&quot;Number of Risk unit is (2)&quot;,&quot;sourceNodeType&quot;:&quot;TEXT&quot;,&quot;blendMode&quot;:&quot;NORMAL&quot;,&quot;opacity&quot;:1,&quot;color&quot;:{&quot;r&quot;:0.8823529481887817,&quot;g&quot;:0.843137264251709,&quot;b&quot;:0.8156862854957581}},{&quot;type&quot;:&quot;SOLID&quot;,&quot;fillIndex&quot;:0,&quot;sourceNodeId&quot;:&quot;1:136&quot;,&quot;sourceNodeName&quot;:&quot;Turnover increased in 2025 compare to 2023 &amp; 2024&quot;,&quot;sourceNodeType&quot;:&quot;TEXT&quot;,&quot;blendMode&quot;:&quot;NORMAL&quot;,&quot;opacity&quot;:1,&quot;color&quot;:{&quot;r&quot;:0.8823529481887817,&quot;g&quot;:0.843137264251709,&quot;b&quot;:0.8156862854957581}},{&quot;type&quot;:&quot;SOLID&quot;,&quot;fillIndex&quot;:0,&quot;sourceNodeId&quot;:&quot;1:138&quot;,&quot;sourceNodeName&quot;:&quot;Unit E , Unit F the Achievement is Less Than 90%&quot;,&quot;sourceNodeType&quot;:&quot;TEXT&quot;,&quot;blendMode&quot;:&quot;NORMAL&quot;,&quot;opacity&quot;:1,&quot;color&quot;:{&quot;r&quot;:0.8823529481887817,&quot;g&quot;:0.843137264251709,&quot;b&quot;:0.8156862854957581}},{&quot;type&quot;:&quot;SOLID&quot;,&quot;fillIndex&quot;:0,&quot;sourceNodeId&quot;:&quot;1:128&quot;,&quot;sourceNodeName&quot;:&quot;Unit Delivery Risk is (6)&quot;,&quot;sourceNodeType&quot;:&quot;TEXT&quot;,&quot;blendMode&quot;:&quot;NORMAL&quot;,&quot;opacity&quot;:1,&quot;color&quot;:{&quot;r&quot;:0.8823529481887817,&quot;g&quot;:0.843137264251709,&quot;b&quot;:0.8156862854957581}},{&quot;type&quot;:&quot;SOLID&quot;,&quot;fillIndex&quot;:0,&quot;sourceNodeId&quot;:&quot;1:87&quot;,&quot;sourceNodeName&quot;:&quot;Page | 3&quot;,&quot;sourceNodeType&quot;:&quot;TEXT&quot;,&quot;blendMode&quot;:&quot;NORMAL&quot;,&quot;opacity&quot;:1,&quot;color&quot;:{&quot;r&quot;:1,&quot;g&quot;:1,&quot;b&quot;:1}},{&quot;type&quot;:&quot;SOLID&quot;,&quot;fillIndex&quot;:0,&quot;sourceNodeId&quot;:&quot;1:130&quot;,&quot;sourceNodeName&quot;:&quot;Number of Customer is (12)&quot;,&quot;sourceNodeType&quot;:&quot;TEXT&quot;,&quot;blendMode&quot;:&quot;NORMAL&quot;,&quot;opacity&quot;:1,&quot;color&quot;:{&quot;r&quot;:0.8823529481887817,&quot;g&quot;:0.843137264251709,&quot;b&quot;:0.8156862854957581}},{&quot;type&quot;:&quot;SOLID&quot;,&quot;fillIndex&quot;:0,&quot;sourceNodeId&quot;:&quot;1:132&quot;,&quot;sourceNodeName&quot;:&quot;Average of Free on Board is (5.3$)&quot;,&quot;sourceNodeType&quot;:&quot;TEXT&quot;,&quot;blendMode&quot;:&quot;NORMAL&quot;,&quot;opacity&quot;:1,&quot;color&quot;:{&quot;r&quot;:0.8823529481887817,&quot;g&quot;:0.843137264251709,&quot;b&quot;:0.8156862854957581}},{&quot;type&quot;:&quot;SOLID&quot;,&quot;fillIndex&quot;:0,&quot;sourceNodeId&quot;:&quot;1:140&quot;,&quot;sourceNodeName&quot;:&quot;Top 6 Customer is High Turnover is (Decathlon, Zara, Carffour, Tesco, Next, M&amp;S)&quot;,&quot;sourceNodeType&quot;:&quot;TEXT&quot;,&quot;blendMode&quot;:&quot;NORMAL&quot;,&quot;opacity&quot;:1,&quot;color&quot;:{&quot;r&quot;:0.8823529481887817,&quot;g&quot;:0.843137264251709,&quot;b&quot;:0.8156862854957581}},{&quot;type&quot;:&quot;SOLID&quot;,&quot;fillIndex&quot;:0,&quot;sourceNodeId&quot;:&quot;3:2&quot;,&quot;sourceNodeName&quot;:&quot;The High On Time Delivery Customer is (Carffour, Next) by 40% and others Less than 40&quot;,&quot;sourceNodeType&quot;:&quot;TEXT&quot;,&quot;blendMode&quot;:&quot;NORMAL&quot;,&quot;opacity&quot;:1,&quot;color&quot;:{&quot;r&quot;:0.8823529481887817,&quot;g&quot;:0.843137264251709,&quot;b&quot;:0.8156862854957581}}]}"/>
  <item slide="2" elementIndex="1" elementId="3" sourceNodeId="1:83" x="0.11961212158203124" y="0" width="0.848779042561849" height="1" visualJson="{&quot;version&quot;:1,&quot;sourceNodeId&quot;:&quot;1:83&quot;,&quot;nodeName&quot;:&quot;Ellipse 6&quot;,&quot;nodeType&quot;:&quot;ELLIPSE&quot;,&quot;renderStrategy&quot;:&quot;flattened-blend&quot;,&quot;reason&quot;:[&quot;effects&quot;],&quot;rendered&quot;:{&quot;mimeType&quot;:&quot;image/png&quot;,&quot;strategy&quot;:&quot;regularNodeExport&quot;,&quot;path&quot;:&quot;ppt/media/image-3-2.png&quot;},&quot;sources&quot;:[{&quot;type&quot;:&quot;SOLID&quot;,&quot;fillIndex&quot;:0,&quot;sourceNodeId&quot;:&quot;1:83&quot;,&quot;sourceNodeName&quot;:&quot;Ellipse 6&quot;,&quot;sourceNodeType&quot;:&quot;ELLIPSE&quot;,&quot;blendMode&quot;:&quot;NORMAL&quot;,&quot;opacity&quot;:1,&quot;color&quot;:{&quot;r&quot;:0.8509804010391235,&quot;g&quot;:0.3019607961177826,&quot;b&quot;:0.1568627506494522}}]}"/>
  <item slide="3" elementIndex="0" elementId="2" sourceNodeId="3:6" x="0" y="0" width="1" height="1" visualJson="{&quot;version&quot;:1,&quot;sourceNodeId&quot;:&quot;3:6&quot;,&quot;nodeName&quot;:&quot;4&quot;,&quot;nodeType&quot;:&quot;SLIDE&quot;,&quot;renderStrategy&quot;:&quot;flattened-blend&quot;,&quot;reason&quot;:[&quot;effects&quot;],&quot;rendered&quot;:{&quot;mimeType&quot;:&quot;image/png&quot;,&quot;strategy&quot;:&quot;regularNodeExport&quot;,&quot;path&quot;:&quot;ppt/media/image-4-1.png&quot;},&quot;sources&quot;:[{&quot;type&quot;:&quot;SOLID&quot;,&quot;fillIndex&quot;:0,&quot;sourceNodeId&quot;:&quot;3:6&quot;,&quot;sourceNodeName&quot;:&quot;4&quot;,&quot;sourceNodeType&quot;:&quot;SLIDE&quot;,&quot;blendMode&quot;:&quot;NORMAL&quot;,&quot;opacity&quot;:1,&quot;color&quot;:{&quot;r&quot;:0.1568627506494522,&quot;g&quot;:0.4470588266849518,&quot;b&quot;:0.5764706134796143}},{&quot;type&quot;:&quot;SOLID&quot;,&quot;fillIndex&quot;:0,&quot;sourceNodeId&quot;:&quot;3:7&quot;,&quot;sourceNodeName&quot;:&quot;Ellipse 6&quot;,&quot;sourceNodeType&quot;:&quot;ELLIPSE&quot;,&quot;blendMode&quot;:&quot;NORMAL&quot;,&quot;opacity&quot;:1,&quot;color&quot;:{&quot;r&quot;:0.8509804010391235,&quot;g&quot;:0.3019607961177826,&quot;b&quot;:0.1568627506494522}},{&quot;type&quot;:&quot;SOLID&quot;,&quot;fillIndex&quot;:0,&quot;sourceNodeId&quot;:&quot;3:8&quot;,&quot;sourceNodeName&quot;:&quot;Customer Dashboard&quot;,&quot;sourceNodeType&quot;:&quot;TEXT&quot;,&quot;blendMode&quot;:&quot;NORMAL&quot;,&quot;opacity&quot;:1,&quot;color&quot;:{&quot;r&quot;:0.8823529481887817,&quot;g&quot;:0.843137264251709,&quot;b&quot;:0.8156862854957581}},{&quot;type&quot;:&quot;SOLID&quot;,&quot;fillIndex&quot;:0,&quot;sourceNodeId&quot;:&quot;3:9&quot;,&quot;sourceNodeName&quot;:&quot;KPIS:&quot;,&quot;sourceNodeType&quot;:&quot;TEXT&quot;,&quot;blendMode&quot;:&quot;NORMAL&quot;,&quot;opacity&quot;:1,&quot;color&quot;:{&quot;r&quot;:0.8823529481887817,&quot;g&quot;:0.843137264251709,&quot;b&quot;:0.8156862854957581}},{&quot;type&quot;:&quot;SOLID&quot;,&quot;fillIndex&quot;:0,&quot;sourceNodeId&quot;:&quot;3:10&quot;,&quot;sourceNodeName&quot;:&quot;Insight:&quot;,&quot;sourceNodeType&quot;:&quot;TEXT&quot;,&quot;blendMode&quot;:&quot;NORMAL&quot;,&quot;opacity&quot;:1,&quot;color&quot;:{&quot;r&quot;:0.8823529481887817,&quot;g&quot;:0.843137264251709,&quot;b&quot;:0.8156862854957581}},{&quot;type&quot;:&quot;SOLID&quot;,&quot;fillIndex&quot;:0,&quot;sourceNodeId&quot;:&quot;3:11&quot;,&quot;sourceNodeName&quot;:&quot;Total Turnover is (393.7 $) Millions&quot;,&quot;sourceNodeType&quot;:&quot;TEXT&quot;,&quot;blendMode&quot;:&quot;NORMAL&quot;,&quot;opacity&quot;:1,&quot;color&quot;:{&quot;r&quot;:0.8823529481887817,&quot;g&quot;:0.843137264251709,&quot;b&quot;:0.8156862854957581}},{&quot;type&quot;:&quot;SOLID&quot;,&quot;fillIndex&quot;:0,&quot;sourceNodeId&quot;:&quot;3:12&quot;,&quot;sourceNodeName&quot;:&quot;Decathlon is High Turnover by (39.9 $) Millions and High Pieces by (7.4) Millions&quot;,&quot;sourceNodeType&quot;:&quot;TEXT&quot;,&quot;blendMode&quot;:&quot;NORMAL&quot;,&quot;opacity&quot;:1,&quot;color&quot;:{&quot;r&quot;:0.8823529481887817,&quot;g&quot;:0.843137264251709,&quot;b&quot;:0.8156862854957581}},{&quot;type&quot;:&quot;SOLID&quot;,&quot;fillIndex&quot;:0,&quot;sourceNodeId&quot;:&quot;3:13&quot;,&quot;sourceNodeName&quot;:&quot;Primark is Low Turnover by (27.2 $) Millions and Low Pieces by (5.18) Millions&quot;,&quot;sourceNodeType&quot;:&quot;TEXT&quot;,&quot;blendMode&quot;:&quot;NORMAL&quot;,&quot;opacity&quot;:1,&quot;color&quot;:{&quot;r&quot;:0.8823529481887817,&quot;g&quot;:0.843137264251709,&quot;b&quot;:0.8156862854957581}},{&quot;type&quot;:&quot;SOLID&quot;,&quot;fillIndex&quot;:0,&quot;sourceNodeId&quot;:&quot;3:14&quot;,&quot;sourceNodeName&quot;:&quot;Total Pieces is (75) Millions&quot;,&quot;sourceNodeType&quot;:&quot;TEXT&quot;,&quot;blendMode&quot;:&quot;NORMAL&quot;,&quot;opacity&quot;:1,&quot;color&quot;:{&quot;r&quot;:0.8823529481887817,&quot;g&quot;:0.843137264251709,&quot;b&quot;:0.8156862854957581}},{&quot;type&quot;:&quot;SOLID&quot;,&quot;fillIndex&quot;:0,&quot;sourceNodeId&quot;:&quot;3:15&quot;,&quot;sourceNodeName&quot;:&quot;Page | 4&quot;,&quot;sourceNodeType&quot;:&quot;TEXT&quot;,&quot;blendMode&quot;:&quot;NORMAL&quot;,&quot;opacity&quot;:1,&quot;color&quot;:{&quot;r&quot;:1,&quot;g&quot;:1,&quot;b&quot;:1}},{&quot;type&quot;:&quot;SOLID&quot;,&quot;fillIndex&quot;:0,&quot;sourceNodeId&quot;:&quot;3:16&quot;,&quot;sourceNodeName&quot;:&quot;Number of Customer is (12)&quot;,&quot;sourceNodeType&quot;:&quot;TEXT&quot;,&quot;blendMode&quot;:&quot;NORMAL&quot;,&quot;opacity&quot;:1,&quot;color&quot;:{&quot;r&quot;:0.8823529481887817,&quot;g&quot;:0.843137264251709,&quot;b&quot;:0.8156862854957581}},{&quot;type&quot;:&quot;SOLID&quot;,&quot;fillIndex&quot;:0,&quot;sourceNodeId&quot;:&quot;3:17&quot;,&quot;sourceNodeName&quot;:&quot;Average of Free on Board is (5.3$)&quot;,&quot;sourceNodeType&quot;:&quot;TEXT&quot;,&quot;blendMode&quot;:&quot;NORMAL&quot;,&quot;opacity&quot;:1,&quot;color&quot;:{&quot;r&quot;:0.8823529481887817,&quot;g&quot;:0.843137264251709,&quot;b&quot;:0.8156862854957581}},{&quot;type&quot;:&quot;SOLID&quot;,&quot;fillIndex&quot;:0,&quot;sourceNodeId&quot;:&quot;3:18&quot;,&quot;sourceNodeName&quot;:&quot;Customer George, Next, Primark is Down Year Over Year Turnover Growth&quot;,&quot;sourceNodeType&quot;:&quot;TEXT&quot;,&quot;blendMode&quot;:&quot;NORMAL&quot;,&quot;opacity&quot;:1,&quot;color&quot;:{&quot;r&quot;:0.8823529481887817,&quot;g&quot;:0.843137264251709,&quot;b&quot;:0.8156862854957581}},{&quot;type&quot;:&quot;SOLID&quot;,&quot;fillIndex&quot;:0,&quot;sourceNodeId&quot;:&quot;5:70&quot;,&quot;sourceNodeName&quot;:&quot;Category Hoodies, T-Shirt is Down Year Over Year Turnover Growth&quot;,&quot;sourceNodeType&quot;:&quot;TEXT&quot;,&quot;blendMode&quot;:&quot;NORMAL&quot;,&quot;opacity&quot;:1,&quot;color&quot;:{&quot;r&quot;:0.8823529481887817,&quot;g&quot;:0.843137264251709,&quot;b&quot;:0.8156862854957581}},{&quot;type&quot;:&quot;SOLID&quot;,&quot;fillIndex&quot;:0,&quot;sourceNodeId&quot;:&quot;5:74&quot;,&quot;sourceNodeName&quot;:&quot;Style Athletic, Padded Jacket is Down Year Over Year Turnover Growth&quot;,&quot;sourceNodeType&quot;:&quot;TEXT&quot;,&quot;blendMode&quot;:&quot;NORMAL&quot;,&quot;opacity&quot;:1,&quot;color&quot;:{&quot;r&quot;:0.8823529481887817,&quot;g&quot;:0.843137264251709,&quot;b&quot;:0.8156862854957581}},{&quot;type&quot;:&quot;SOLID&quot;,&quot;fillIndex&quot;:0,&quot;sourceNodeId&quot;:&quot;5:72&quot;,&quot;sourceNodeName&quot;:&quot;Category Polo Shirt, T-Shirt is Up Year Over Year Turnover Growth&quot;,&quot;sourceNodeType&quot;:&quot;TEXT&quot;,&quot;blendMode&quot;:&quot;NORMAL&quot;,&quot;opacity&quot;:1,&quot;color&quot;:{&quot;r&quot;:0.8823529481887817,&quot;g&quot;:0.843137264251709,&quot;b&quot;:0.8156862854957581}},{&quot;type&quot;:&quot;SOLID&quot;,&quot;fillIndex&quot;:0,&quot;sourceNodeId&quot;:&quot;5:78&quot;,&quot;sourceNodeName&quot;:&quot;Country is High Pieces UK and Low Pieces Ireland&quot;,&quot;sourceNodeType&quot;:&quot;TEXT&quot;,&quot;blendMode&quot;:&quot;NORMAL&quot;,&quot;opacity&quot;:1,&quot;color&quot;:{&quot;r&quot;:0.8823529481887817,&quot;g&quot;:0.843137264251709,&quot;b&quot;:0.8156862854957581}},{&quot;type&quot;:&quot;SOLID&quot;,&quot;fillIndex&quot;:0,&quot;sourceNodeId&quot;:&quot;5:66&quot;,&quot;sourceNodeName&quot;:&quot;Customer George, Mango, Primark, Target is Down Year Over Year Pieces Growth&quot;,&quot;sourceNodeType&quot;:&quot;TEXT&quot;,&quot;blendMode&quot;:&quot;NORMAL&quot;,&quot;opacity&quot;:1,&quot;color&quot;:{&quot;r&quot;:0.8823529481887817,&quot;g&quot;:0.843137264251709,&quot;b&quot;:0.8156862854957581}},{&quot;type&quot;:&quot;SOLID&quot;,&quot;fillIndex&quot;:0,&quot;sourceNodeId&quot;:&quot;3:19&quot;,&quot;sourceNodeName&quot;:&quot;Customer Decathlon, Carffour, M&amp;S is Up Year Over Year Turnover Growth&quot;,&quot;sourceNodeType&quot;:&quot;TEXT&quot;,&quot;blendMode&quot;:&quot;NORMAL&quot;,&quot;opacity&quot;:1,&quot;color&quot;:{&quot;r&quot;:0.8823529481887817,&quot;g&quot;:0.843137264251709,&quot;b&quot;:0.8156862854957581}},{&quot;type&quot;:&quot;SOLID&quot;,&quot;fillIndex&quot;:0,&quot;sourceNodeId&quot;:&quot;5:68&quot;,&quot;sourceNodeName&quot;:&quot;Customer Decathlon, Carffour, Zara is Up Year Over Year Pieces Growth&quot;,&quot;sourceNodeType&quot;:&quot;TEXT&quot;,&quot;blendMode&quot;:&quot;NORMAL&quot;,&quot;opacity&quot;:1,&quot;color&quot;:{&quot;r&quot;:0.8823529481887817,&quot;g&quot;:0.843137264251709,&quot;b&quot;:0.8156862854957581}}]}"/>
  <item slide="3" elementIndex="1" elementId="3" sourceNodeId="3:7" x="0.11961212158203124" y="0" width="0.848779296875" height="1" visualJson="{&quot;version&quot;:1,&quot;sourceNodeId&quot;:&quot;3:7&quot;,&quot;nodeName&quot;:&quot;Ellipse 6&quot;,&quot;nodeType&quot;:&quot;ELLIPSE&quot;,&quot;renderStrategy&quot;:&quot;flattened-blend&quot;,&quot;reason&quot;:[&quot;effects&quot;],&quot;rendered&quot;:{&quot;mimeType&quot;:&quot;image/png&quot;,&quot;strategy&quot;:&quot;regularNodeExport&quot;,&quot;path&quot;:&quot;ppt/media/image-4-2.png&quot;},&quot;sources&quot;:[{&quot;type&quot;:&quot;SOLID&quot;,&quot;fillIndex&quot;:0,&quot;sourceNodeId&quot;:&quot;3:7&quot;,&quot;sourceNodeName&quot;:&quot;Ellipse 6&quot;,&quot;sourceNodeType&quot;:&quot;ELLIPSE&quot;,&quot;blendMode&quot;:&quot;NORMAL&quot;,&quot;opacity&quot;:1,&quot;color&quot;:{&quot;r&quot;:0.8509804010391235,&quot;g&quot;:0.3019607961177826,&quot;b&quot;:0.1568627506494522}}]}"/>
  <item slide="4" elementIndex="0" elementId="2" sourceNodeId="3:21" x="0" y="0" width="1" height="1" visualJson="{&quot;version&quot;:1,&quot;sourceNodeId&quot;:&quot;3:21&quot;,&quot;nodeName&quot;:&quot;5&quot;,&quot;nodeType&quot;:&quot;SLIDE&quot;,&quot;renderStrategy&quot;:&quot;flattened-blend&quot;,&quot;reason&quot;:[&quot;effects&quot;],&quot;rendered&quot;:{&quot;mimeType&quot;:&quot;image/png&quot;,&quot;strategy&quot;:&quot;regularNodeExport&quot;,&quot;path&quot;:&quot;ppt/media/image-5-1.png&quot;},&quot;sources&quot;:[{&quot;type&quot;:&quot;SOLID&quot;,&quot;fillIndex&quot;:0,&quot;sourceNodeId&quot;:&quot;3:21&quot;,&quot;sourceNodeName&quot;:&quot;5&quot;,&quot;sourceNodeType&quot;:&quot;SLIDE&quot;,&quot;blendMode&quot;:&quot;NORMAL&quot;,&quot;opacity&quot;:1,&quot;color&quot;:{&quot;r&quot;:0.1568627506494522,&quot;g&quot;:0.4470588266849518,&quot;b&quot;:0.5764706134796143}},{&quot;type&quot;:&quot;SOLID&quot;,&quot;fillIndex&quot;:0,&quot;sourceNodeId&quot;:&quot;3:22&quot;,&quot;sourceNodeName&quot;:&quot;Ellipse 6&quot;,&quot;sourceNodeType&quot;:&quot;ELLIPSE&quot;,&quot;blendMode&quot;:&quot;NORMAL&quot;,&quot;opacity&quot;:1,&quot;color&quot;:{&quot;r&quot;:0.8509804010391235,&quot;g&quot;:0.3019607961177826,&quot;b&quot;:0.1568627506494522}},{&quot;type&quot;:&quot;SOLID&quot;,&quot;fillIndex&quot;:0,&quot;sourceNodeId&quot;:&quot;3:23&quot;,&quot;sourceNodeName&quot;:&quot;Style Dashboard&quot;,&quot;sourceNodeType&quot;:&quot;TEXT&quot;,&quot;blendMode&quot;:&quot;NORMAL&quot;,&quot;opacity&quot;:1,&quot;color&quot;:{&quot;r&quot;:0.8823529481887817,&quot;g&quot;:0.843137264251709,&quot;b&quot;:0.8156862854957581}},{&quot;type&quot;:&quot;SOLID&quot;,&quot;fillIndex&quot;:0,&quot;sourceNodeId&quot;:&quot;3:24&quot;,&quot;sourceNodeName&quot;:&quot;KPIS:&quot;,&quot;sourceNodeType&quot;:&quot;TEXT&quot;,&quot;blendMode&quot;:&quot;NORMAL&quot;,&quot;opacity&quot;:1,&quot;color&quot;:{&quot;r&quot;:0.8823529481887817,&quot;g&quot;:0.843137264251709,&quot;b&quot;:0.8156862854957581}},{&quot;type&quot;:&quot;SOLID&quot;,&quot;fillIndex&quot;:0,&quot;sourceNodeId&quot;:&quot;3:25&quot;,&quot;sourceNodeName&quot;:&quot;Insight:&quot;,&quot;sourceNodeType&quot;:&quot;TEXT&quot;,&quot;blendMode&quot;:&quot;NORMAL&quot;,&quot;opacity&quot;:1,&quot;color&quot;:{&quot;r&quot;:0.8823529481887817,&quot;g&quot;:0.843137264251709,&quot;b&quot;:0.8156862854957581}},{&quot;type&quot;:&quot;SOLID&quot;,&quot;fillIndex&quot;:0,&quot;sourceNodeId&quot;:&quot;3:27&quot;,&quot;sourceNodeName&quot;:&quot;Style Athletic Shorts is Highest Turnover by 32.2$ Millions and Oversized Sweatshirt is Lowest Turnover by 226.7$ Millions&quot;,&quot;sourceNodeType&quot;:&quot;TEXT&quot;,&quot;blendMode&quot;:&quot;NORMAL&quot;,&quot;opacity&quot;:1,&quot;color&quot;:{&quot;r&quot;:0.8823529481887817,&quot;g&quot;:0.843137264251709,&quot;b&quot;:0.8156862854957581}},{&quot;type&quot;:&quot;SOLID&quot;,&quot;fillIndex&quot;:0,&quot;sourceNodeId&quot;:&quot;3:28&quot;,&quot;sourceNodeName&quot;:&quot;Style Athletic Shorts is Highest Pieces 5.9 Millions and Style Padded Jacket is Lowest Pieces by 5.1 Millions&quot;,&quot;sourceNodeType&quot;:&quot;TEXT&quot;,&quot;blendMode&quot;:&quot;NORMAL&quot;,&quot;opacity&quot;:1,&quot;color&quot;:{&quot;r&quot;:0.8823529481887817,&quot;g&quot;:0.843137264251709,&quot;b&quot;:0.8156862854957581}},{&quot;type&quot;:&quot;SOLID&quot;,&quot;fillIndex&quot;:0,&quot;sourceNodeId&quot;:&quot;3:30&quot;,&quot;sourceNodeName&quot;:&quot;Page | 5&quot;,&quot;sourceNodeType&quot;:&quot;TEXT&quot;,&quot;blendMode&quot;:&quot;NORMAL&quot;,&quot;opacity&quot;:1,&quot;color&quot;:{&quot;r&quot;:1,&quot;g&quot;:1,&quot;b&quot;:1}},{&quot;type&quot;:&quot;SOLID&quot;,&quot;fillIndex&quot;:0,&quot;sourceNodeId&quot;:&quot;3:32&quot;,&quot;sourceNodeName&quot;:&quot;Average of Free on Board is (5.3$)&quot;,&quot;sourceNodeType&quot;:&quot;TEXT&quot;,&quot;blendMode&quot;:&quot;NORMAL&quot;,&quot;opacity&quot;:1,&quot;color&quot;:{&quot;r&quot;:0.8823529481887817,&quot;g&quot;:0.843137264251709,&quot;b&quot;:0.8156862854957581}},{&quot;type&quot;:&quot;SOLID&quot;,&quot;fillIndex&quot;:0,&quot;sourceNodeId&quot;:&quot;14:263&quot;,&quot;sourceNodeName&quot;:&quot;Turnover Growth is (51.46%)&quot;,&quot;sourceNodeType&quot;:&quot;TEXT&quot;,&quot;blendMode&quot;:&quot;NORMAL&quot;,&quot;opacity&quot;:1,&quot;color&quot;:{&quot;r&quot;:0.8823529481887817,&quot;g&quot;:0.843137264251709,&quot;b&quot;:0.8156862854957581}},{&quot;type&quot;:&quot;SOLID&quot;,&quot;fillIndex&quot;:0,&quot;sourceNodeId&quot;:&quot;3:33&quot;,&quot;sourceNodeName&quot;:&quot;Style Athletic Shorts is Highest FOB by 4$ Khiloi and Fashion Tee is Lowest FOB by 2.2$ Khiloi&quot;,&quot;sourceNodeType&quot;:&quot;TEXT&quot;,&quot;blendMode&quot;:&quot;NORMAL&quot;,&quot;opacity&quot;:1,&quot;color&quot;:{&quot;r&quot;:0.8823529481887817,&quot;g&quot;:0.843137264251709,&quot;b&quot;:0.8156862854957581}},{&quot;type&quot;:&quot;SOLID&quot;,&quot;fillIndex&quot;:0,&quot;sourceNodeId&quot;:&quot;3:34&quot;,&quot;sourceNodeName&quot;:&quot;Style Athletic, Padded Jacket Shorts is Down Turnover Year Over Year&quot;,&quot;sourceNodeType&quot;:&quot;TEXT&quot;,&quot;blendMode&quot;:&quot;NORMAL&quot;,&quot;opacity&quot;:1,&quot;color&quot;:{&quot;r&quot;:0.8823529481887817,&quot;g&quot;:0.843137264251709,&quot;b&quot;:0.8156862854957581}},{&quot;type&quot;:&quot;SOLID&quot;,&quot;fillIndex&quot;:0,&quot;sourceNodeId&quot;:&quot;14:259&quot;,&quot;sourceNodeName&quot;:&quot;Total Turnover is (393.7 $) Millions&quot;,&quot;sourceNodeType&quot;:&quot;TEXT&quot;,&quot;blendMode&quot;:&quot;NORMAL&quot;,&quot;opacity&quot;:1,&quot;color&quot;:{&quot;r&quot;:0.8823529481887817,&quot;g&quot;:0.843137264251709,&quot;b&quot;:0.8156862854957581}},{&quot;type&quot;:&quot;SOLID&quot;,&quot;fillIndex&quot;:0,&quot;sourceNodeId&quot;:&quot;14:261&quot;,&quot;sourceNodeName&quot;:&quot;Total Pieces is (75) Millions&quot;,&quot;sourceNodeType&quot;:&quot;TEXT&quot;,&quot;blendMode&quot;:&quot;NORMAL&quot;,&quot;opacity&quot;:1,&quot;color&quot;:{&quot;r&quot;:0.8823529481887817,&quot;g&quot;:0.843137264251709,&quot;b&quot;:0.8156862854957581}}]}"/>
  <item slide="4" elementIndex="1" elementId="3" sourceNodeId="3:22" x="0.11961212158203124" y="0" width="0.848779296875" height="1" visualJson="{&quot;version&quot;:1,&quot;sourceNodeId&quot;:&quot;3:22&quot;,&quot;nodeName&quot;:&quot;Ellipse 6&quot;,&quot;nodeType&quot;:&quot;ELLIPSE&quot;,&quot;renderStrategy&quot;:&quot;flattened-blend&quot;,&quot;reason&quot;:[&quot;effects&quot;],&quot;rendered&quot;:{&quot;mimeType&quot;:&quot;image/png&quot;,&quot;strategy&quot;:&quot;regularNodeExport&quot;,&quot;path&quot;:&quot;ppt/media/image-5-2.png&quot;},&quot;sources&quot;:[{&quot;type&quot;:&quot;SOLID&quot;,&quot;fillIndex&quot;:0,&quot;sourceNodeId&quot;:&quot;3:22&quot;,&quot;sourceNodeName&quot;:&quot;Ellipse 6&quot;,&quot;sourceNodeType&quot;:&quot;ELLIPSE&quot;,&quot;blendMode&quot;:&quot;NORMAL&quot;,&quot;opacity&quot;:1,&quot;color&quot;:{&quot;r&quot;:0.8509804010391235,&quot;g&quot;:0.3019607961177826,&quot;b&quot;:0.1568627506494522}}]}"/>
  <item slide="5" elementIndex="0" elementId="2" sourceNodeId="3:36" x="0" y="0" width="1" height="1" visualJson="{&quot;version&quot;:1,&quot;sourceNodeId&quot;:&quot;3:36&quot;,&quot;nodeName&quot;:&quot;6&quot;,&quot;nodeType&quot;:&quot;SLIDE&quot;,&quot;renderStrategy&quot;:&quot;flattened-blend&quot;,&quot;reason&quot;:[&quot;effects&quot;],&quot;rendered&quot;:{&quot;mimeType&quot;:&quot;image/png&quot;,&quot;strategy&quot;:&quot;regularNodeExport&quot;,&quot;path&quot;:&quot;ppt/media/image-6-1.png&quot;},&quot;sources&quot;:[{&quot;type&quot;:&quot;SOLID&quot;,&quot;fillIndex&quot;:0,&quot;sourceNodeId&quot;:&quot;3:36&quot;,&quot;sourceNodeName&quot;:&quot;6&quot;,&quot;sourceNodeType&quot;:&quot;SLIDE&quot;,&quot;blendMode&quot;:&quot;NORMAL&quot;,&quot;opacity&quot;:1,&quot;color&quot;:{&quot;r&quot;:0.1568627506494522,&quot;g&quot;:0.4470588266849518,&quot;b&quot;:0.5764706134796143}},{&quot;type&quot;:&quot;SOLID&quot;,&quot;fillIndex&quot;:0,&quot;sourceNodeId&quot;:&quot;3:37&quot;,&quot;sourceNodeName&quot;:&quot;Ellipse 6&quot;,&quot;sourceNodeType&quot;:&quot;ELLIPSE&quot;,&quot;blendMode&quot;:&quot;NORMAL&quot;,&quot;opacity&quot;:1,&quot;color&quot;:{&quot;r&quot;:0.8509804010391235,&quot;g&quot;:0.3019607961177826,&quot;b&quot;:0.1568627506494522}},{&quot;type&quot;:&quot;SOLID&quot;,&quot;fillIndex&quot;:0,&quot;sourceNodeId&quot;:&quot;3:38&quot;,&quot;sourceNodeName&quot;:&quot;Production Dashboard&quot;,&quot;sourceNodeType&quot;:&quot;TEXT&quot;,&quot;blendMode&quot;:&quot;NORMAL&quot;,&quot;opacity&quot;:1,&quot;color&quot;:{&quot;r&quot;:0.8823529481887817,&quot;g&quot;:0.843137264251709,&quot;b&quot;:0.8156862854957581}},{&quot;type&quot;:&quot;SOLID&quot;,&quot;fillIndex&quot;:0,&quot;sourceNodeId&quot;:&quot;3:39&quot;,&quot;sourceNodeName&quot;:&quot;KPIS:&quot;,&quot;sourceNodeType&quot;:&quot;TEXT&quot;,&quot;blendMode&quot;:&quot;NORMAL&quot;,&quot;opacity&quot;:1,&quot;color&quot;:{&quot;r&quot;:0.8823529481887817,&quot;g&quot;:0.843137264251709,&quot;b&quot;:0.8156862854957581}},{&quot;type&quot;:&quot;SOLID&quot;,&quot;fillIndex&quot;:0,&quot;sourceNodeId&quot;:&quot;3:40&quot;,&quot;sourceNodeName&quot;:&quot;Insight:&quot;,&quot;sourceNodeType&quot;:&quot;TEXT&quot;,&quot;blendMode&quot;:&quot;NORMAL&quot;,&quot;opacity&quot;:1,&quot;color&quot;:{&quot;r&quot;:0.8823529481887817,&quot;g&quot;:0.843137264251709,&quot;b&quot;:0.8156862854957581}},{&quot;type&quot;:&quot;SOLID&quot;,&quot;fillIndex&quot;:0,&quot;sourceNodeId&quot;:&quot;3:41&quot;,&quot;sourceNodeName&quot;:&quot;Total Achievement is (91.63 %)&quot;,&quot;sourceNodeType&quot;:&quot;TEXT&quot;,&quot;blendMode&quot;:&quot;NORMAL&quot;,&quot;opacity&quot;:1,&quot;color&quot;:{&quot;r&quot;:0.8823529481887817,&quot;g&quot;:0.843137264251709,&quot;b&quot;:0.8156862854957581}},{&quot;type&quot;:&quot;SOLID&quot;,&quot;fillIndex&quot;:0,&quot;sourceNodeId&quot;:&quot;3:42&quot;,&quot;sourceNodeName&quot;:&quot;Unit E, Unit F The Achievement is Less Than 90%&quot;,&quot;sourceNodeType&quot;:&quot;TEXT&quot;,&quot;blendMode&quot;:&quot;NORMAL&quot;,&quot;opacity&quot;:1,&quot;color&quot;:{&quot;r&quot;:0.8823529481887817,&quot;g&quot;:0.843137264251709,&quot;b&quot;:0.8156862854957581}},{&quot;type&quot;:&quot;SOLID&quot;,&quot;fillIndex&quot;:0,&quot;sourceNodeId&quot;:&quot;3:43&quot;,&quot;sourceNodeName&quot;:&quot;Unit B Improve Achievement By Month from January to 97.5% in June&quot;,&quot;sourceNodeType&quot;:&quot;TEXT&quot;,&quot;blendMode&quot;:&quot;NORMAL&quot;,&quot;opacity&quot;:1,&quot;color&quot;:{&quot;r&quot;:0.8823529481887817,&quot;g&quot;:0.843137264251709,&quot;b&quot;:0.8156862854957581}},{&quot;type&quot;:&quot;SOLID&quot;,&quot;fillIndex&quot;:0,&quot;sourceNodeId&quot;:&quot;3:44&quot;,&quot;sourceNodeName&quot;:&quot;Total Planned is (5.82) M&quot;,&quot;sourceNodeType&quot;:&quot;TEXT&quot;,&quot;blendMode&quot;:&quot;NORMAL&quot;,&quot;opacity&quot;:1,&quot;color&quot;:{&quot;r&quot;:0.8823529481887817,&quot;g&quot;:0.843137264251709,&quot;b&quot;:0.8156862854957581}},{&quot;type&quot;:&quot;SOLID&quot;,&quot;fillIndex&quot;:0,&quot;sourceNodeId&quot;:&quot;3:45&quot;,&quot;sourceNodeName&quot;:&quot;Page | 6&quot;,&quot;sourceNodeType&quot;:&quot;TEXT&quot;,&quot;blendMode&quot;:&quot;NORMAL&quot;,&quot;opacity&quot;:1,&quot;color&quot;:{&quot;r&quot;:1,&quot;g&quot;:1,&quot;b&quot;:1}},{&quot;type&quot;:&quot;SOLID&quot;,&quot;fillIndex&quot;:0,&quot;sourceNodeId&quot;:&quot;3:46&quot;,&quot;sourceNodeName&quot;:&quot;Total Actual is (5.33) M&quot;,&quot;sourceNodeType&quot;:&quot;TEXT&quot;,&quot;blendMode&quot;:&quot;NORMAL&quot;,&quot;opacity&quot;:1,&quot;color&quot;:{&quot;r&quot;:0.8823529481887817,&quot;g&quot;:0.843137264251709,&quot;b&quot;:0.8156862854957581}},{&quot;type&quot;:&quot;SOLID&quot;,&quot;fillIndex&quot;:0,&quot;sourceNodeId&quot;:&quot;3:47&quot;,&quot;sourceNodeName&quot;:&quot;Total Gap is (487) K&quot;,&quot;sourceNodeType&quot;:&quot;TEXT&quot;,&quot;blendMode&quot;:&quot;NORMAL&quot;,&quot;opacity&quot;:1,&quot;color&quot;:{&quot;r&quot;:0.8823529481887817,&quot;g&quot;:0.843137264251709,&quot;b&quot;:0.8156862854957581}},{&quot;type&quot;:&quot;SOLID&quot;,&quot;fillIndex&quot;:0,&quot;sourceNodeId&quot;:&quot;3:48&quot;,&quot;sourceNodeName&quot;:&quot;Unit C is deteriorating Achievement by Month from January 97.8% to 88% in June&quot;,&quot;sourceNodeType&quot;:&quot;TEXT&quot;,&quot;blendMode&quot;:&quot;NORMAL&quot;,&quot;opacity&quot;:1,&quot;color&quot;:{&quot;r&quot;:0.8823529481887817,&quot;g&quot;:0.843137264251709,&quot;b&quot;:0.8156862854957581}}]}"/>
  <item slide="5" elementIndex="1" elementId="3" sourceNodeId="3:37" x="0.11961212158203124" y="0" width="0.848779296875" height="1" visualJson="{&quot;version&quot;:1,&quot;sourceNodeId&quot;:&quot;3:37&quot;,&quot;nodeName&quot;:&quot;Ellipse 6&quot;,&quot;nodeType&quot;:&quot;ELLIPSE&quot;,&quot;renderStrategy&quot;:&quot;flattened-blend&quot;,&quot;reason&quot;:[&quot;effects&quot;],&quot;rendered&quot;:{&quot;mimeType&quot;:&quot;image/png&quot;,&quot;strategy&quot;:&quot;regularNodeExport&quot;,&quot;path&quot;:&quot;ppt/media/image-6-2.png&quot;},&quot;sources&quot;:[{&quot;type&quot;:&quot;SOLID&quot;,&quot;fillIndex&quot;:0,&quot;sourceNodeId&quot;:&quot;3:37&quot;,&quot;sourceNodeName&quot;:&quot;Ellipse 6&quot;,&quot;sourceNodeType&quot;:&quot;ELLIPSE&quot;,&quot;blendMode&quot;:&quot;NORMAL&quot;,&quot;opacity&quot;:1,&quot;color&quot;:{&quot;r&quot;:0.8509804010391235,&quot;g&quot;:0.3019607961177826,&quot;b&quot;:0.1568627506494522}}]}"/>
  <item slide="6" elementIndex="0" elementId="2" sourceNodeId="3:51" x="0" y="0" width="1" height="1" visualJson="{&quot;version&quot;:1,&quot;sourceNodeId&quot;:&quot;3:51&quot;,&quot;nodeName&quot;:&quot;7&quot;,&quot;nodeType&quot;:&quot;SLIDE&quot;,&quot;renderStrategy&quot;:&quot;flattened-blend&quot;,&quot;reason&quot;:[&quot;effects&quot;],&quot;rendered&quot;:{&quot;mimeType&quot;:&quot;image/png&quot;,&quot;strategy&quot;:&quot;regularNodeExport&quot;,&quot;path&quot;:&quot;ppt/media/image-7-1.png&quot;},&quot;sources&quot;:[{&quot;type&quot;:&quot;SOLID&quot;,&quot;fillIndex&quot;:0,&quot;sourceNodeId&quot;:&quot;3:51&quot;,&quot;sourceNodeName&quot;:&quot;7&quot;,&quot;sourceNodeType&quot;:&quot;SLIDE&quot;,&quot;blendMode&quot;:&quot;NORMAL&quot;,&quot;opacity&quot;:1,&quot;color&quot;:{&quot;r&quot;:0.1568627506494522,&quot;g&quot;:0.4470588266849518,&quot;b&quot;:0.5764706134796143}},{&quot;type&quot;:&quot;SOLID&quot;,&quot;fillIndex&quot;:0,&quot;sourceNodeId&quot;:&quot;3:52&quot;,&quot;sourceNodeName&quot;:&quot;Ellipse 6&quot;,&quot;sourceNodeType&quot;:&quot;ELLIPSE&quot;,&quot;blendMode&quot;:&quot;NORMAL&quot;,&quot;opacity&quot;:1,&quot;color&quot;:{&quot;r&quot;:0.8509804010391235,&quot;g&quot;:0.3019607961177826,&quot;b&quot;:0.1568627506494522}},{&quot;type&quot;:&quot;SOLID&quot;,&quot;fillIndex&quot;:0,&quot;sourceNodeId&quot;:&quot;3:53&quot;,&quot;sourceNodeName&quot;:&quot;Delivery Dashboard&quot;,&quot;sourceNodeType&quot;:&quot;TEXT&quot;,&quot;blendMode&quot;:&quot;NORMAL&quot;,&quot;opacity&quot;:1,&quot;color&quot;:{&quot;r&quot;:0.8823529481887817,&quot;g&quot;:0.843137264251709,&quot;b&quot;:0.8156862854957581}},{&quot;type&quot;:&quot;SOLID&quot;,&quot;fillIndex&quot;:0,&quot;sourceNodeId&quot;:&quot;3:54&quot;,&quot;sourceNodeName&quot;:&quot;KPIS:&quot;,&quot;sourceNodeType&quot;:&quot;TEXT&quot;,&quot;blendMode&quot;:&quot;NORMAL&quot;,&quot;opacity&quot;:1,&quot;color&quot;:{&quot;r&quot;:0.8823529481887817,&quot;g&quot;:0.843137264251709,&quot;b&quot;:0.8156862854957581}},{&quot;type&quot;:&quot;SOLID&quot;,&quot;fillIndex&quot;:0,&quot;sourceNodeId&quot;:&quot;3:55&quot;,&quot;sourceNodeName&quot;:&quot;Insight:&quot;,&quot;sourceNodeType&quot;:&quot;TEXT&quot;,&quot;blendMode&quot;:&quot;NORMAL&quot;,&quot;opacity&quot;:1,&quot;color&quot;:{&quot;r&quot;:0.8823529481887817,&quot;g&quot;:0.843137264251709,&quot;b&quot;:0.8156862854957581}},{&quot;type&quot;:&quot;SOLID&quot;,&quot;fillIndex&quot;:0,&quot;sourceNodeId&quot;:&quot;3:56&quot;,&quot;sourceNodeName&quot;:&quot;On Time Delivery is (27.78%)&quot;,&quot;sourceNodeType&quot;:&quot;TEXT&quot;,&quot;blendMode&quot;:&quot;NORMAL&quot;,&quot;opacity&quot;:1,&quot;color&quot;:{&quot;r&quot;:0.8823529481887817,&quot;g&quot;:0.843137264251709,&quot;b&quot;:0.8156862854957581}},{&quot;type&quot;:&quot;SOLID&quot;,&quot;fillIndex&quot;:0,&quot;sourceNodeId&quot;:&quot;3:57&quot;,&quot;sourceNodeName&quot;:&quot;Customer Carffour, Tesco, Next, Zara, Mango the Average Delay less than &lt; 5&quot;,&quot;sourceNodeType&quot;:&quot;TEXT&quot;,&quot;blendMode&quot;:&quot;NORMAL&quot;,&quot;opacity&quot;:1,&quot;color&quot;:{&quot;r&quot;:0.8823529481887817,&quot;g&quot;:0.843137264251709,&quot;b&quot;:0.8156862854957581}},{&quot;type&quot;:&quot;SOLID&quot;,&quot;fillIndex&quot;:0,&quot;sourceNodeId&quot;:&quot;3:58&quot;,&quot;sourceNodeName&quot;:&quot;Unit C is Biggest Late Orders (30) but Unit A is Smallest Late Orders (9)&quot;,&quot;sourceNodeType&quot;:&quot;TEXT&quot;,&quot;blendMode&quot;:&quot;NORMAL&quot;,&quot;opacity&quot;:1,&quot;color&quot;:{&quot;r&quot;:0.8823529481887817,&quot;g&quot;:0.843137264251709,&quot;b&quot;:0.8156862854957581}},{&quot;type&quot;:&quot;SOLID&quot;,&quot;fillIndex&quot;:0,&quot;sourceNodeId&quot;:&quot;3:59&quot;,&quot;sourceNodeName&quot;:&quot;Average Delay is (5.4)&quot;,&quot;sourceNodeType&quot;:&quot;TEXT&quot;,&quot;blendMode&quot;:&quot;NORMAL&quot;,&quot;opacity&quot;:1,&quot;color&quot;:{&quot;r&quot;:0.8823529481887817,&quot;g&quot;:0.843137264251709,&quot;b&quot;:0.8156862854957581}},{&quot;type&quot;:&quot;SOLID&quot;,&quot;fillIndex&quot;:0,&quot;sourceNodeId&quot;:&quot;3:60&quot;,&quot;sourceNodeName&quot;:&quot;Page | 7&quot;,&quot;sourceNodeType&quot;:&quot;TEXT&quot;,&quot;blendMode&quot;:&quot;NORMAL&quot;,&quot;opacity&quot;:1,&quot;color&quot;:{&quot;r&quot;:1,&quot;g&quot;:1,&quot;b&quot;:1}},{&quot;type&quot;:&quot;SOLID&quot;,&quot;fillIndex&quot;:0,&quot;sourceNodeId&quot;:&quot;3:61&quot;,&quot;sourceNodeName&quot;:&quot;Number of Order Late is (130)&quot;,&quot;sourceNodeType&quot;:&quot;TEXT&quot;,&quot;blendMode&quot;:&quot;NORMAL&quot;,&quot;opacity&quot;:1,&quot;color&quot;:{&quot;r&quot;:0.8823529481887817,&quot;g&quot;:0.843137264251709,&quot;b&quot;:0.8156862854957581}},{&quot;type&quot;:&quot;SOLID&quot;,&quot;fillIndex&quot;:0,&quot;sourceNodeId&quot;:&quot;3:62&quot;,&quot;sourceNodeName&quot;:&quot;Number of order on Time is (50)&quot;,&quot;sourceNodeType&quot;:&quot;TEXT&quot;,&quot;blendMode&quot;:&quot;NORMAL&quot;,&quot;opacity&quot;:1,&quot;color&quot;:{&quot;r&quot;:0.8823529481887817,&quot;g&quot;:0.843137264251709,&quot;b&quot;:0.8156862854957581}},{&quot;type&quot;:&quot;SOLID&quot;,&quot;fillIndex&quot;:0,&quot;sourceNodeId&quot;:&quot;3:64&quot;,&quot;sourceNodeName&quot;:&quot;The High On Time Delivery Customer is (Carffour, Next) by 40% and others Less than 40&quot;,&quot;sourceNodeType&quot;:&quot;TEXT&quot;,&quot;blendMode&quot;:&quot;NORMAL&quot;,&quot;opacity&quot;:1,&quot;color&quot;:{&quot;r&quot;:0.8823529481887817,&quot;g&quot;:0.843137264251709,&quot;b&quot;:0.8156862854957581}},{&quot;type&quot;:&quot;SOLID&quot;,&quot;fillIndex&quot;:0,&quot;sourceNodeId&quot;:&quot;11:110&quot;,&quot;sourceNodeName&quot;:&quot;Unit A Declined by Delay in Every Month&quot;,&quot;sourceNodeType&quot;:&quot;TEXT&quot;,&quot;blendMode&quot;:&quot;NORMAL&quot;,&quot;opacity&quot;:1,&quot;color&quot;:{&quot;r&quot;:0.8823529481887817,&quot;g&quot;:0.843137264251709,&quot;b&quot;:0.8156862854957581}}]}"/>
  <item slide="6" elementIndex="1" elementId="3" sourceNodeId="3:52" x="0.11961212158203124" y="0" width="0.848779296875" height="1" visualJson="{&quot;version&quot;:1,&quot;sourceNodeId&quot;:&quot;3:52&quot;,&quot;nodeName&quot;:&quot;Ellipse 6&quot;,&quot;nodeType&quot;:&quot;ELLIPSE&quot;,&quot;renderStrategy&quot;:&quot;flattened-blend&quot;,&quot;reason&quot;:[&quot;effects&quot;],&quot;rendered&quot;:{&quot;mimeType&quot;:&quot;image/png&quot;,&quot;strategy&quot;:&quot;regularNodeExport&quot;,&quot;path&quot;:&quot;ppt/media/image-7-2.png&quot;},&quot;sources&quot;:[{&quot;type&quot;:&quot;SOLID&quot;,&quot;fillIndex&quot;:0,&quot;sourceNodeId&quot;:&quot;3:52&quot;,&quot;sourceNodeName&quot;:&quot;Ellipse 6&quot;,&quot;sourceNodeType&quot;:&quot;ELLIPSE&quot;,&quot;blendMode&quot;:&quot;NORMAL&quot;,&quot;opacity&quot;:1,&quot;color&quot;:{&quot;r&quot;:0.8509804010391235,&quot;g&quot;:0.3019607961177826,&quot;b&quot;:0.1568627506494522}}]}"/>
  <item slide="7" elementIndex="0" elementId="2" sourceNodeId="12:149" x="0" y="0" width="1" height="1" visualJson="{&quot;version&quot;:1,&quot;sourceNodeId&quot;:&quot;12:149&quot;,&quot;nodeName&quot;:&quot;8&quot;,&quot;nodeType&quot;:&quot;SLIDE&quot;,&quot;renderStrategy&quot;:&quot;flattened-blend&quot;,&quot;reason&quot;:[&quot;effects&quot;],&quot;rendered&quot;:{&quot;mimeType&quot;:&quot;image/png&quot;,&quot;strategy&quot;:&quot;regularNodeExport&quot;,&quot;path&quot;:&quot;ppt/media/image-8-1.png&quot;},&quot;sources&quot;:[{&quot;type&quot;:&quot;SOLID&quot;,&quot;fillIndex&quot;:0,&quot;sourceNodeId&quot;:&quot;12:149&quot;,&quot;sourceNodeName&quot;:&quot;8&quot;,&quot;sourceNodeType&quot;:&quot;SLIDE&quot;,&quot;blendMode&quot;:&quot;NORMAL&quot;,&quot;opacity&quot;:1,&quot;color&quot;:{&quot;r&quot;:0.0117647061124444,&quot;g&quot;:0.1921568661928177,&quot;b&quot;:0.2705882489681244}},{&quot;type&quot;:&quot;SOLID&quot;,&quot;fillIndex&quot;:0,&quot;sourceNodeId&quot;:&quot;12:150&quot;,&quot;sourceNodeName&quot;:&quot;Ellipse 6&quot;,&quot;sourceNodeType&quot;:&quot;ELLIPSE&quot;,&quot;blendMode&quot;:&quot;NORMAL&quot;,&quot;opacity&quot;:1,&quot;color&quot;:{&quot;r&quot;:0.8509804010391235,&quot;g&quot;:0.3019607961177826,&quot;b&quot;:0.1568627506494522}},{&quot;type&quot;:&quot;SOLID&quot;,&quot;fillIndex&quot;:0,&quot;sourceNodeId&quot;:&quot;12:151&quot;,&quot;sourceNodeName&quot;:&quot;Ellipse 7&quot;,&quot;sourceNodeType&quot;:&quot;ELLIPSE&quot;,&quot;blendMode&quot;:&quot;NORMAL&quot;,&quot;opacity&quot;:1,&quot;color&quot;:{&quot;r&quot;:1,&quot;g&quot;:1,&quot;b&quot;:1}},{&quot;type&quot;:&quot;SOLID&quot;,&quot;fillIndex&quot;:0,&quot;sourceNodeId&quot;:&quot;12:153&quot;,&quot;sourceNodeName&quot;:&quot;Key Risks&quot;,&quot;sourceNodeType&quot;:&quot;TEXT&quot;,&quot;blendMode&quot;:&quot;NORMAL&quot;,&quot;opacity&quot;:1,&quot;color&quot;:{&quot;r&quot;:0.8509804010391235,&quot;g&quot;:0.3019607961177826,&quot;b&quot;:0.1568627506494522}},{&quot;type&quot;:&quot;SOLID&quot;,&quot;fillIndex&quot;:0,&quot;sourceNodeId&quot;:&quot;12:154&quot;,&quot;sourceNodeName&quot;:&quot;01&quot;,&quot;sourceNodeType&quot;:&quot;TEXT&quot;,&quot;blendMode&quot;:&quot;NORMAL&quot;,&quot;opacity&quot;:1,&quot;color&quot;:{&quot;r&quot;:0.1568627506494522,&quot;g&quot;:0.4470588266849518,&quot;b&quot;:0.5764706134796143}},{&quot;type&quot;:&quot;SOLID&quot;,&quot;fillIndex&quot;:0,&quot;sourceNodeId&quot;:&quot;12:155&quot;,&quot;sourceNodeName&quot;:&quot;02&quot;,&quot;sourceNodeType&quot;:&quot;TEXT&quot;,&quot;blendMode&quot;:&quot;NORMAL&quot;,&quot;opacity&quot;:1,&quot;color&quot;:{&quot;r&quot;:0.1568627506494522,&quot;g&quot;:0.4470588266849518,&quot;b&quot;:0.5764706134796143}},{&quot;type&quot;:&quot;SOLID&quot;,&quot;fillIndex&quot;:0,&quot;sourceNodeId&quot;:&quot;12:156&quot;,&quot;sourceNodeName&quot;:&quot;03&quot;,&quot;sourceNodeType&quot;:&quot;TEXT&quot;,&quot;blendMode&quot;:&quot;NORMAL&quot;,&quot;opacity&quot;:1,&quot;color&quot;:{&quot;r&quot;:0.1568627506494522,&quot;g&quot;:0.4470588266849518,&quot;b&quot;:0.5764706134796143}},{&quot;type&quot;:&quot;SOLID&quot;,&quot;fillIndex&quot;:0,&quot;sourceNodeId&quot;:&quot;12:157&quot;,&quot;sourceNodeName&quot;:&quot;04&quot;,&quot;sourceNodeType&quot;:&quot;TEXT&quot;,&quot;blendMode&quot;:&quot;NORMAL&quot;,&quot;opacity&quot;:1,&quot;color&quot;:{&quot;r&quot;:0.1568627506494522,&quot;g&quot;:0.4470588266849518,&quot;b&quot;:0.5764706134796143}},{&quot;type&quot;:&quot;SOLID&quot;,&quot;fillIndex&quot;:0,&quot;sourceNodeId&quot;:&quot;12:158&quot;,&quot;sourceNodeName&quot;:&quot;Next, Primark Pieces less than 15%&quot;,&quot;sourceNodeType&quot;:&quot;TEXT&quot;,&quot;blendMode&quot;:&quot;NORMAL&quot;,&quot;opacity&quot;:1,&quot;color&quot;:{&quot;r&quot;:1,&quot;g&quot;:1,&quot;b&quot;:1}},{&quot;type&quot;:&quot;SOLID&quot;,&quot;fillIndex&quot;:0,&quot;sourceNodeId&quot;:&quot;13:170&quot;,&quot;sourceNodeName&quot;:&quot;Primark Turnover less than 10%&quot;,&quot;sourceNodeType&quot;:&quot;TEXT&quot;,&quot;blendMode&quot;:&quot;NORMAL&quot;,&quot;opacity&quot;:1,&quot;color&quot;:{&quot;r&quot;:1,&quot;g&quot;:1,&quot;b&quot;:1}},{&quot;type&quot;:&quot;SOLID&quot;,&quot;fillIndex&quot;:0,&quot;sourceNodeId&quot;:&quot;12:159&quot;,&quot;sourceNodeName&quot;:&quot;Target OTD less than 15 %&quot;,&quot;sourceNodeType&quot;:&quot;TEXT&quot;,&quot;blendMode&quot;:&quot;NORMAL&quot;,&quot;opacity&quot;:1,&quot;color&quot;:{&quot;r&quot;:1,&quot;g&quot;:1,&quot;b&quot;:1}},{&quot;type&quot;:&quot;SOLID&quot;,&quot;fillIndex&quot;:0,&quot;sourceNodeId&quot;:&quot;13:174&quot;,&quot;sourceNodeName&quot;:&quot;Primark is High Delay by 7.8&quot;,&quot;sourceNodeType&quot;:&quot;TEXT&quot;,&quot;blendMode&quot;:&quot;NORMAL&quot;,&quot;opacity&quot;:1,&quot;color&quot;:{&quot;r&quot;:1,&quot;g&quot;:1,&quot;b&quot;:1}},{&quot;type&quot;:&quot;SOLID&quot;,&quot;fillIndex&quot;:0,&quot;sourceNodeId&quot;:&quot;12:160&quot;,&quot;sourceNodeName&quot;:&quot;Unit E, Unit F Achievement Less than 90%&quot;,&quot;sourceNodeType&quot;:&quot;TEXT&quot;,&quot;blendMode&quot;:&quot;NORMAL&quot;,&quot;opacity&quot;:1,&quot;color&quot;:{&quot;r&quot;:1,&quot;g&quot;:1,&quot;b&quot;:1}},{&quot;type&quot;:&quot;SOLID&quot;,&quot;fillIndex&quot;:0,&quot;sourceNodeId&quot;:&quot;13:172&quot;,&quot;sourceNodeName&quot;:&quot;Unit C is deteriorating Every Month&quot;,&quot;sourceNodeType&quot;:&quot;TEXT&quot;,&quot;blendMode&quot;:&quot;NORMAL&quot;,&quot;opacity&quot;:1,&quot;color&quot;:{&quot;r&quot;:1,&quot;g&quot;:1,&quot;b&quot;:1}},{&quot;type&quot;:&quot;SOLID&quot;,&quot;fillIndex&quot;:0,&quot;sourceNodeId&quot;:&quot;12:161&quot;,&quot;sourceNodeName&quot;:&quot;Zara is Erosion by 47.5%&quot;,&quot;sourceNodeType&quot;:&quot;TEXT&quot;,&quot;blendMode&quot;:&quot;NORMAL&quot;,&quot;opacity&quot;:1,&quot;color&quot;:{&quot;r&quot;:1,&quot;g&quot;:1,&quot;b&quot;:1}},{&quot;type&quot;:&quot;SOLID&quot;,&quot;fillIndex&quot;:0,&quot;sourceNodeId&quot;:&quot;12:162&quot;,&quot;sourceNodeName&quot;:&quot;Customer&quot;,&quot;sourceNodeType&quot;:&quot;TEXT&quot;,&quot;blendMode&quot;:&quot;NORMAL&quot;,&quot;opacity&quot;:1,&quot;color&quot;:{&quot;r&quot;:1,&quot;g&quot;:1,&quot;b&quot;:1}},{&quot;type&quot;:&quot;SOLID&quot;,&quot;fillIndex&quot;:0,&quot;sourceNodeId&quot;:&quot;12:163&quot;,&quot;sourceNodeName&quot;:&quot;Delivery&quot;,&quot;sourceNodeType&quot;:&quot;TEXT&quot;,&quot;blendMode&quot;:&quot;NORMAL&quot;,&quot;opacity&quot;:1,&quot;color&quot;:{&quot;r&quot;:1,&quot;g&quot;:1,&quot;b&quot;:1}},{&quot;type&quot;:&quot;SOLID&quot;,&quot;fillIndex&quot;:0,&quot;sourceNodeId&quot;:&quot;12:164&quot;,&quot;sourceNodeName&quot;:&quot;Production&quot;,&quot;sourceNodeType&quot;:&quot;TEXT&quot;,&quot;blendMode&quot;:&quot;NORMAL&quot;,&quot;opacity&quot;:1,&quot;color&quot;:{&quot;r&quot;:1,&quot;g&quot;:1,&quot;b&quot;:1}},{&quot;type&quot;:&quot;SOLID&quot;,&quot;fillIndex&quot;:0,&quot;sourceNodeId&quot;:&quot;12:165&quot;,&quot;sourceNodeName&quot;:&quot;Commercial&quot;,&quot;sourceNodeType&quot;:&quot;TEXT&quot;,&quot;blendMode&quot;:&quot;NORMAL&quot;,&quot;opacity&quot;:1,&quot;color&quot;:{&quot;r&quot;:1,&quot;g&quot;:1,&quot;b&quot;:1}},{&quot;type&quot;:&quot;SOLID&quot;,&quot;fillIndex&quot;:0,&quot;sourceNodeId&quot;:&quot;12:166&quot;,&quot;sourceNodeName&quot;:&quot;Page | 8&quot;,&quot;sourceNodeType&quot;:&quot;TEXT&quot;,&quot;blendMode&quot;:&quot;NORMAL&quot;,&quot;opacity&quot;:1,&quot;color&quot;:{&quot;r&quot;:1,&quot;g&quot;:1,&quot;b&quot;:1}}]}"/>
  <item slide="7" elementIndex="1" elementId="3" sourceNodeId="12:150" x="0.49146626790364584" y="0" width="0.5085337320963542" height="0.7749299225983797" visualJson="{&quot;version&quot;:1,&quot;sourceNodeId&quot;:&quot;12:150&quot;,&quot;nodeName&quot;:&quot;Ellipse 6&quot;,&quot;nodeType&quot;:&quot;ELLIPSE&quot;,&quot;renderStrategy&quot;:&quot;flattened-blend&quot;,&quot;reason&quot;:[&quot;effects&quot;],&quot;rendered&quot;:{&quot;mimeType&quot;:&quot;image/png&quot;,&quot;strategy&quot;:&quot;regularNodeExport&quot;,&quot;path&quot;:&quot;ppt/media/image-8-2.png&quot;},&quot;sources&quot;:[{&quot;type&quot;:&quot;SOLID&quot;,&quot;fillIndex&quot;:0,&quot;sourceNodeId&quot;:&quot;12:150&quot;,&quot;sourceNodeName&quot;:&quot;Ellipse 6&quot;,&quot;sourceNodeType&quot;:&quot;ELLIPSE&quot;,&quot;blendMode&quot;:&quot;NORMAL&quot;,&quot;opacity&quot;:1,&quot;color&quot;:{&quot;r&quot;:0.8509804010391235,&quot;g&quot;:0.3019607961177826,&quot;b&quot;:0.1568627506494522}}]}"/>
  <item slide="7" elementIndex="2" elementId="4" sourceNodeId="12:151" x="0" y="0" width="0.9674906412760417" height="1" visualJson="{&quot;version&quot;:1,&quot;sourceNodeId&quot;:&quot;12:151&quot;,&quot;nodeName&quot;:&quot;Ellipse 7&quot;,&quot;nodeType&quot;:&quot;ELLIPSE&quot;,&quot;renderStrategy&quot;:&quot;flattened-blend&quot;,&quot;reason&quot;:[&quot;effects&quot;],&quot;rendered&quot;:{&quot;mimeType&quot;:&quot;image/png&quot;,&quot;strategy&quot;:&quot;regularNodeExport&quot;,&quot;path&quot;:&quot;ppt/media/image-8-3.png&quot;},&quot;sources&quot;:[{&quot;type&quot;:&quot;SOLID&quot;,&quot;fillIndex&quot;:0,&quot;sourceNodeId&quot;:&quot;12:151&quot;,&quot;sourceNodeName&quot;:&quot;Ellipse 7&quot;,&quot;sourceNodeType&quot;:&quot;ELLIPSE&quot;,&quot;blendMode&quot;:&quot;NORMAL&quot;,&quot;opacity&quot;:1,&quot;color&quot;:{&quot;r&quot;:1,&quot;g&quot;:1,&quot;b&quot;:1}}]}"/>
  <item slide="8" elementIndex="0" elementId="2" sourceNodeId="7:95" x="0" y="0" width="1" height="1" visualJson="{&quot;version&quot;:1,&quot;sourceNodeId&quot;:&quot;7:95&quot;,&quot;nodeName&quot;:&quot;9&quot;,&quot;nodeType&quot;:&quot;SLIDE&quot;,&quot;renderStrategy&quot;:&quot;flattened-blend&quot;,&quot;reason&quot;:[&quot;effects&quot;],&quot;rendered&quot;:{&quot;mimeType&quot;:&quot;image/png&quot;,&quot;strategy&quot;:&quot;regularNodeExport&quot;,&quot;path&quot;:&quot;ppt/media/image-9-1.png&quot;},&quot;sources&quot;:[{&quot;type&quot;:&quot;SOLID&quot;,&quot;fillIndex&quot;:0,&quot;sourceNodeId&quot;:&quot;7:95&quot;,&quot;sourceNodeName&quot;:&quot;9&quot;,&quot;sourceNodeType&quot;:&quot;SLIDE&quot;,&quot;blendMode&quot;:&quot;NORMAL&quot;,&quot;opacity&quot;:1,&quot;color&quot;:{&quot;r&quot;:0.1568627506494522,&quot;g&quot;:0.4470588266849518,&quot;b&quot;:0.5764706134796143}},{&quot;type&quot;:&quot;SOLID&quot;,&quot;fillIndex&quot;:0,&quot;sourceNodeId&quot;:&quot;7:96&quot;,&quot;sourceNodeName&quot;:&quot;Ellipse 6&quot;,&quot;sourceNodeType&quot;:&quot;ELLIPSE&quot;,&quot;blendMode&quot;:&quot;NORMAL&quot;,&quot;opacity&quot;:1,&quot;color&quot;:{&quot;r&quot;:0.8509804010391235,&quot;g&quot;:0.3019607961177826,&quot;b&quot;:0.1568627506494522}},{&quot;type&quot;:&quot;SOLID&quot;,&quot;fillIndex&quot;:0,&quot;sourceNodeId&quot;:&quot;7:97&quot;,&quot;sourceNodeName&quot;:&quot;Recommendation&quot;,&quot;sourceNodeType&quot;:&quot;TEXT&quot;,&quot;blendMode&quot;:&quot;NORMAL&quot;,&quot;opacity&quot;:1,&quot;color&quot;:{&quot;r&quot;:0.8823529481887817,&quot;g&quot;:0.843137264251709,&quot;b&quot;:0.8156862854957581}},{&quot;type&quot;:&quot;SOLID&quot;,&quot;fillIndex&quot;:0,&quot;sourceNodeId&quot;:&quot;7:98&quot;,&quot;sourceNodeName&quot;:&quot;Customer&quot;,&quot;sourceNodeType&quot;:&quot;TEXT&quot;,&quot;blendMode&quot;:&quot;NORMAL&quot;,&quot;opacity&quot;:1,&quot;color&quot;:{&quot;r&quot;:0.8823529481887817,&quot;g&quot;:0.843137264251709,&quot;b&quot;:0.8156862854957581}},{&quot;type&quot;:&quot;SOLID&quot;,&quot;fillIndex&quot;:0,&quot;sourceNodeId&quot;:&quot;13:176&quot;,&quot;sourceNodeName&quot;:&quot;Delivery&quot;,&quot;sourceNodeType&quot;:&quot;TEXT&quot;,&quot;blendMode&quot;:&quot;NORMAL&quot;,&quot;opacity&quot;:1,&quot;color&quot;:{&quot;r&quot;:0.8823529481887817,&quot;g&quot;:0.843137264251709,&quot;b&quot;:0.8156862854957581}},{&quot;type&quot;:&quot;SOLID&quot;,&quot;fillIndex&quot;:0,&quot;sourceNodeId&quot;:&quot;13:178&quot;,&quot;sourceNodeName&quot;:&quot;Prodcution&quot;,&quot;sourceNodeType&quot;:&quot;TEXT&quot;,&quot;blendMode&quot;:&quot;NORMAL&quot;,&quot;opacity&quot;:1,&quot;color&quot;:{&quot;r&quot;:0.8823529481887817,&quot;g&quot;:0.843137264251709,&quot;b&quot;:0.8156862854957581}},{&quot;type&quot;:&quot;SOLID&quot;,&quot;fillIndex&quot;:0,&quot;sourceNodeId&quot;:&quot;7:99&quot;,&quot;sourceNodeName&quot;:&quot;Style&quot;,&quot;sourceNodeType&quot;:&quot;TEXT&quot;,&quot;blendMode&quot;:&quot;NORMAL&quot;,&quot;opacity&quot;:1,&quot;color&quot;:{&quot;r&quot;:0.8823529481887817,&quot;g&quot;:0.843137264251709,&quot;b&quot;:0.8156862854957581}},{&quot;type&quot;:&quot;SOLID&quot;,&quot;fillIndex&quot;:0,&quot;sourceNodeId&quot;:&quot;7:100&quot;,&quot;sourceNodeName&quot;:&quot;Re-engage declining customers&quot;,&quot;sourceNodeType&quot;:&quot;TEXT&quot;,&quot;blendMode&quot;:&quot;NORMAL&quot;,&quot;opacity&quot;:1,&quot;color&quot;:{&quot;r&quot;:0.8823529481887817,&quot;g&quot;:0.843137264251709,&quot;b&quot;:0.8156862854957581}},{&quot;type&quot;:&quot;SOLID&quot;,&quot;fillIndex&quot;:0,&quot;sourceNodeId&quot;:&quot;13:184&quot;,&quot;sourceNodeName&quot;:&quot;Expand top-performing styles&quot;,&quot;sourceNodeType&quot;:&quot;TEXT&quot;,&quot;blendMode&quot;:&quot;NORMAL&quot;,&quot;opacity&quot;:1,&quot;color&quot;:{&quot;r&quot;:0.8823529481887817,&quot;g&quot;:0.843137264251709,&quot;b&quot;:0.8156862854957581}},{&quot;type&quot;:&quot;SOLID&quot;,&quot;fillIndex&quot;:0,&quot;sourceNodeId&quot;:&quot;13:180&quot;,&quot;sourceNodeName&quot;:&quot;Increase focus on growing customers&quot;,&quot;sourceNodeType&quot;:&quot;TEXT&quot;,&quot;blendMode&quot;:&quot;NORMAL&quot;,&quot;opacity&quot;:1,&quot;color&quot;:{&quot;r&quot;:0.8823529481887817,&quot;g&quot;:0.843137264251709,&quot;b&quot;:0.8156862854957581}},{&quot;type&quot;:&quot;SOLID&quot;,&quot;fillIndex&quot;:0,&quot;sourceNodeId&quot;:&quot;13:190&quot;,&quot;sourceNodeName&quot;:&quot;Improve low-performing units&quot;,&quot;sourceNodeType&quot;:&quot;TEXT&quot;,&quot;blendMode&quot;:&quot;NORMAL&quot;,&quot;opacity&quot;:1,&quot;color&quot;:{&quot;r&quot;:0.8823529481887817,&quot;g&quot;:0.843137264251709,&quot;b&quot;:0.8156862854957581}},{&quot;type&quot;:&quot;SOLID&quot;,&quot;fillIndex&quot;:0,&quot;sourceNodeId&quot;:&quot;13:194&quot;,&quot;sourceNodeName&quot;:&quot;Reduce production bottlenecks&quot;,&quot;sourceNodeType&quot;:&quot;TEXT&quot;,&quot;blendMode&quot;:&quot;NORMAL&quot;,&quot;opacity&quot;:1,&quot;color&quot;:{&quot;r&quot;:0.8823529481887817,&quot;g&quot;:0.843137264251709,&quot;b&quot;:0.8156862854957581}},{&quot;type&quot;:&quot;SOLID&quot;,&quot;fillIndex&quot;:0,&quot;sourceNodeId&quot;:&quot;13:192&quot;,&quot;sourceNodeName&quot;:&quot;Monitor achievement weekly&quot;,&quot;sourceNodeType&quot;:&quot;TEXT&quot;,&quot;blendMode&quot;:&quot;NORMAL&quot;,&quot;opacity&quot;:1,&quot;color&quot;:{&quot;r&quot;:0.8823529481887817,&quot;g&quot;:0.843137264251709,&quot;b&quot;:0.8156862854957581}},{&quot;type&quot;:&quot;SOLID&quot;,&quot;fillIndex&quot;:0,&quot;sourceNodeId&quot;:&quot;7:104&quot;,&quot;sourceNodeName&quot;:&quot;Page | 9&quot;,&quot;sourceNodeType&quot;:&quot;TEXT&quot;,&quot;blendMode&quot;:&quot;NORMAL&quot;,&quot;opacity&quot;:1,&quot;color&quot;:{&quot;r&quot;:1,&quot;g&quot;:1,&quot;b&quot;:1}},{&quot;type&quot;:&quot;SOLID&quot;,&quot;fillIndex&quot;:0,&quot;sourceNodeId&quot;:&quot;13:186&quot;,&quot;sourceNodeName&quot;:&quot;Review low-performing styles&quot;,&quot;sourceNodeType&quot;:&quot;TEXT&quot;,&quot;blendMode&quot;:&quot;NORMAL&quot;,&quot;opacity&quot;:1,&quot;color&quot;:{&quot;r&quot;:0.8823529481887817,&quot;g&quot;:0.843137264251709,&quot;b&quot;:0.8156862854957581}},{&quot;type&quot;:&quot;SOLID&quot;,&quot;fillIndex&quot;:0,&quot;sourceNodeId&quot;:&quot;13:196&quot;,&quot;sourceNodeName&quot;:&quot;Strengthen shipment planning&quot;,&quot;sourceNodeType&quot;:&quot;TEXT&quot;,&quot;blendMode&quot;:&quot;NORMAL&quot;,&quot;opacity&quot;:1,&quot;color&quot;:{&quot;r&quot;:0.8823529481887817,&quot;g&quot;:0.843137264251709,&quot;b&quot;:0.8156862854957581}}]}"/>
  <item slide="8" elementIndex="1" elementId="3" sourceNodeId="7:96" x="0.11961161295572917" y="0" width="0.848779296875" height="1" visualJson="{&quot;version&quot;:1,&quot;sourceNodeId&quot;:&quot;7:96&quot;,&quot;nodeName&quot;:&quot;Ellipse 6&quot;,&quot;nodeType&quot;:&quot;ELLIPSE&quot;,&quot;renderStrategy&quot;:&quot;flattened-blend&quot;,&quot;reason&quot;:[&quot;effects&quot;],&quot;rendered&quot;:{&quot;mimeType&quot;:&quot;image/png&quot;,&quot;strategy&quot;:&quot;regularNodeExport&quot;,&quot;path&quot;:&quot;ppt/media/image-9-2.png&quot;},&quot;sources&quot;:[{&quot;type&quot;:&quot;SOLID&quot;,&quot;fillIndex&quot;:0,&quot;sourceNodeId&quot;:&quot;7:96&quot;,&quot;sourceNodeName&quot;:&quot;Ellipse 6&quot;,&quot;sourceNodeType&quot;:&quot;ELLIPSE&quot;,&quot;blendMode&quot;:&quot;NORMAL&quot;,&quot;opacity&quot;:1,&quot;color&quot;:{&quot;r&quot;:0.8509804010391235,&quot;g&quot;:0.3019607961177826,&quot;b&quot;:0.1568627506494522}}]}"/>
  <item slide="9" elementIndex="0" elementId="2" sourceNodeId="13:235" x="0" y="0" width="1" height="1" visualJson="{&quot;version&quot;:1,&quot;sourceNodeId&quot;:&quot;13:235&quot;,&quot;nodeName&quot;:&quot;10&quot;,&quot;nodeType&quot;:&quot;SLIDE&quot;,&quot;renderStrategy&quot;:&quot;flattened-blend&quot;,&quot;reason&quot;:[&quot;effects&quot;],&quot;rendered&quot;:{&quot;mimeType&quot;:&quot;image/png&quot;,&quot;strategy&quot;:&quot;regularNodeExport&quot;,&quot;path&quot;:&quot;ppt/media/image-10-1.png&quot;},&quot;sources&quot;:[{&quot;type&quot;:&quot;SOLID&quot;,&quot;fillIndex&quot;:0,&quot;sourceNodeId&quot;:&quot;13:235&quot;,&quot;sourceNodeName&quot;:&quot;10&quot;,&quot;sourceNodeType&quot;:&quot;SLIDE&quot;,&quot;blendMode&quot;:&quot;NORMAL&quot;,&quot;opacity&quot;:1,&quot;color&quot;:{&quot;r&quot;:1,&quot;g&quot;:1,&quot;b&quot;:1}},{&quot;type&quot;:&quot;SOLID&quot;,&quot;fillIndex&quot;:0,&quot;sourceNodeId&quot;:&quot;13:236&quot;,&quot;sourceNodeName&quot;:&quot;Ellipse 6&quot;,&quot;sourceNodeType&quot;:&quot;ELLIPSE&quot;,&quot;blendMode&quot;:&quot;NORMAL&quot;,&quot;opacity&quot;:1,&quot;color&quot;:{&quot;r&quot;:0.8509804010391235,&quot;g&quot;:0.3019607961177826,&quot;b&quot;:0.1568627506494522}},{&quot;type&quot;:&quot;SOLID&quot;,&quot;fillIndex&quot;:0,&quot;sourceNodeId&quot;:&quot;13:239&quot;,&quot;sourceNodeName&quot;:&quot;Shape with text&quot;,&quot;sourceNodeType&quot;:&quot;SHAPE_WITH_TEXT&quot;,&quot;blendMode&quot;:&quot;NORMAL&quot;,&quot;opacity&quot;:1,&quot;color&quot;:{&quot;r&quot;:0.1568627506494522,&quot;g&quot;:0.4470588266849518,&quot;b&quot;:0.5764706134796143}},{&quot;type&quot;:&quot;SOLID&quot;,&quot;fillIndex&quot;:0,&quot;sourceNodeId&quot;:&quot;13:240&quot;,&quot;sourceNodeName&quot;:&quot;Vector&quot;,&quot;sourceNodeType&quot;:&quot;VECTOR&quot;,&quot;blendMode&quot;:&quot;NORMAL&quot;,&quot;opacity&quot;:1,&quot;color&quot;:{&quot;r&quot;:0.8509804010391235,&quot;g&quot;:0.3019607961177826,&quot;b&quot;:0.1568627506494522}},{&quot;type&quot;:&quot;SOLID&quot;,&quot;fillIndex&quot;:0,&quot;sourceNodeId&quot;:&quot;13:241&quot;,&quot;sourceNodeName&quot;:&quot;Vector&quot;,&quot;sourceNodeType&quot;:&quot;VECTOR&quot;,&quot;blendMode&quot;:&quot;NORMAL&quot;,&quot;opacity&quot;:1,&quot;color&quot;:{&quot;r&quot;:0.0117647061124444,&quot;g&quot;:0.1921568661928177,&quot;b&quot;:0.2705882489681244}},{&quot;type&quot;:&quot;SOLID&quot;,&quot;fillIndex&quot;:0,&quot;sourceNodeId&quot;:&quot;13:242&quot;,&quot;sourceNodeName&quot;:&quot;Vector&quot;,&quot;sourceNodeType&quot;:&quot;VECTOR&quot;,&quot;blendMode&quot;:&quot;NORMAL&quot;,&quot;opacity&quot;:1,&quot;color&quot;:{&quot;r&quot;:0.1568627506494522,&quot;g&quot;:0.4470588266849518,&quot;b&quot;:0.5764706134796143}},{&quot;type&quot;:&quot;SOLID&quot;,&quot;fillIndex&quot;:0,&quot;sourceNodeId&quot;:&quot;13:243&quot;,&quot;sourceNodeName&quot;:&quot;For 10 Days&quot;,&quot;sourceNodeType&quot;:&quot;TEXT&quot;,&quot;blendMode&quot;:&quot;NORMAL&quot;,&quot;opacity&quot;:1,&quot;color&quot;:{&quot;r&quot;:0.1568627506494522,&quot;g&quot;:0.4470588266849518,&quot;b&quot;:0.5764706134796143}},{&quot;type&quot;:&quot;SOLID&quot;,&quot;fillIndex&quot;:0,&quot;sourceNodeId&quot;:&quot;13:244&quot;,&quot;sourceNodeName&quot;:&quot;Vector&quot;,&quot;sourceNodeType&quot;:&quot;VECTOR&quot;,&quot;blendMode&quot;:&quot;NORMAL&quot;,&quot;opacity&quot;:1,&quot;color&quot;:{&quot;r&quot;:0.0117647061124444,&quot;g&quot;:0.1921568661928177,&quot;b&quot;:0.2705882489681244}},{&quot;type&quot;:&quot;SOLID&quot;,&quot;fillIndex&quot;:0,&quot;sourceNodeId&quot;:&quot;13:245&quot;,&quot;sourceNodeName&quot;:&quot;For 30 Days&quot;,&quot;sourceNodeType&quot;:&quot;TEXT&quot;,&quot;blendMode&quot;:&quot;NORMAL&quot;,&quot;opacity&quot;:1,&quot;color&quot;:{&quot;r&quot;:0.0117647061124444,&quot;g&quot;:0.1921568661928177,&quot;b&quot;:0.2705882489681244}},{&quot;type&quot;:&quot;SOLID&quot;,&quot;fillIndex&quot;:0,&quot;sourceNodeId&quot;:&quot;13:246&quot;,&quot;sourceNodeName&quot;:&quot;Vector&quot;,&quot;sourceNodeType&quot;:&quot;VECTOR&quot;,&quot;blendMode&quot;:&quot;NORMAL&quot;,&quot;opacity&quot;:1,&quot;color&quot;:{&quot;r&quot;:0.8509804010391235,&quot;g&quot;:0.3019607961177826,&quot;b&quot;:0.1568627506494522}},{&quot;type&quot;:&quot;SOLID&quot;,&quot;fillIndex&quot;:0,&quot;sourceNodeId&quot;:&quot;13:247&quot;,&quot;sourceNodeName&quot;:&quot;For 20 Days&quot;,&quot;sourceNodeType&quot;:&quot;TEXT&quot;,&quot;blendMode&quot;:&quot;NORMAL&quot;,&quot;opacity&quot;:1,&quot;color&quot;:{&quot;r&quot;:0.8509804010391235,&quot;g&quot;:0.3019607961177826,&quot;b&quot;:0.1568627506494522}},{&quot;type&quot;:&quot;SOLID&quot;,&quot;fillIndex&quot;:0,&quot;sourceNodeId&quot;:&quot;13:248&quot;,&quot;sourceNodeName&quot;:&quot;1-Improve OTD performance 2-Reduce average delays&quot;,&quot;sourceNodeType&quot;:&quot;TEXT&quot;,&quot;blendMode&quot;:&quot;NORMAL&quot;,&quot;opacity&quot;:1,&quot;color&quot;:{&quot;r&quot;:0.14901961386203766,&quot;g&quot;:0.14901961386203766,&quot;b&quot;:0.14901961386203766}},{&quot;type&quot;:&quot;SOLID&quot;,&quot;fillIndex&quot;:0,&quot;sourceNodeId&quot;:&quot;13:249&quot;,&quot;sourceNodeName&quot;:&quot;1-Implement Early Warning Dashboard 2-Weekly KPI review meetings 3-Investigate high-risk customers&quot;,&quot;sourceNodeType&quot;:&quot;TEXT&quot;,&quot;blendMode&quot;:&quot;NORMAL&quot;,&quot;opacity&quot;:1,&quot;color&quot;:{&quot;r&quot;:0.14901961386203766,&quot;g&quot;:0.14901961386203766,&quot;b&quot;:0.14901961386203766}},{&quot;type&quot;:&quot;SOLID&quot;,&quot;fillIndex&quot;:0,&quot;sourceNodeId&quot;:&quot;13:250&quot;,&quot;sourceNodeName&quot;:&quot;1-Increase achievement above 95% 2-Recover declining customer volume&quot;,&quot;sourceNodeType&quot;:&quot;TEXT&quot;,&quot;blendMode&quot;:&quot;NORMAL&quot;,&quot;opacity&quot;:1,&quot;color&quot;:{&quot;r&quot;:0.14901961386203766,&quot;g&quot;:0.14901961386203766,&quot;b&quot;:0.14901961386203766}},{&quot;type&quot;:&quot;SOLID&quot;,&quot;fillIndex&quot;:0,&quot;sourceNodeId&quot;:&quot;13:251&quot;,&quot;sourceNodeName&quot;:&quot;Lorem ipsum dolor sit amet, consectetur adipiscing elit. sed do eiusmod tempor incididunt ut labore et dolore magna aliqua.&quot;,&quot;sourceNodeType&quot;:&quot;TEXT&quot;,&quot;blendMode&quot;:&quot;NORMAL&quot;,&quot;opacity&quot;:1,&quot;color&quot;:{&quot;r&quot;:0.14901961386203766,&quot;g&quot;:0.14901961386203766,&quot;b&quot;:0.14901961386203766}},{&quot;type&quot;:&quot;SOLID&quot;,&quot;fillIndex&quot;:0,&quot;sourceNodeId&quot;:&quot;13:252&quot;,&quot;sourceNodeName&quot;:&quot;Page | 10&quot;,&quot;sourceNodeType&quot;:&quot;TEXT&quot;,&quot;blendMode&quot;:&quot;NORMAL&quot;,&quot;opacity&quot;:1,&quot;color&quot;:{&quot;r&quot;:0,&quot;g&quot;:0,&quot;b&quot;:0}}]}"/>
  <item slide="9" elementIndex="1" elementId="3" sourceNodeId="13:236" x="0" y="0" width="0.5516530354817708" height="0.9347161752206308" visualJson="{&quot;version&quot;:1,&quot;sourceNodeId&quot;:&quot;13:236&quot;,&quot;nodeName&quot;:&quot;Ellipse 6&quot;,&quot;nodeType&quot;:&quot;ELLIPSE&quot;,&quot;renderStrategy&quot;:&quot;flattened-blend&quot;,&quot;reason&quot;:[&quot;effects&quot;],&quot;rendered&quot;:{&quot;mimeType&quot;:&quot;image/png&quot;,&quot;strategy&quot;:&quot;regularNodeExport&quot;,&quot;path&quot;:&quot;ppt/media/image-10-2.png&quot;},&quot;sources&quot;:[{&quot;type&quot;:&quot;SOLID&quot;,&quot;fillIndex&quot;:0,&quot;sourceNodeId&quot;:&quot;13:236&quot;,&quot;sourceNodeName&quot;:&quot;Ellipse 6&quot;,&quot;sourceNodeType&quot;:&quot;ELLIPSE&quot;,&quot;blendMode&quot;:&quot;NORMAL&quot;,&quot;opacity&quot;:1,&quot;color&quot;:{&quot;r&quot;:0.8509804010391235,&quot;g&quot;:0.3019607961177826,&quot;b&quot;:0.1568627506494522}}]}"/>
  <item slide="10" elementIndex="0" elementId="2" sourceNodeId="14:323" x="0" y="0" width="1" height="1" visualJson="{&quot;version&quot;:1,&quot;sourceNodeId&quot;:&quot;14:323&quot;,&quot;nodeName&quot;:&quot;11&quot;,&quot;nodeType&quot;:&quot;SLIDE&quot;,&quot;renderStrategy&quot;:&quot;flattened-blend&quot;,&quot;reason&quot;:[&quot;effects&quot;],&quot;rendered&quot;:{&quot;mimeType&quot;:&quot;image/png&quot;,&quot;strategy&quot;:&quot;regularNodeExport&quot;,&quot;path&quot;:&quot;ppt/media/image-11-1.png&quot;},&quot;sources&quot;:[{&quot;type&quot;:&quot;SOLID&quot;,&quot;fillIndex&quot;:0,&quot;sourceNodeId&quot;:&quot;14:323&quot;,&quot;sourceNodeName&quot;:&quot;11&quot;,&quot;sourceNodeType&quot;:&quot;SLIDE&quot;,&quot;blendMode&quot;:&quot;NORMAL&quot;,&quot;opacity&quot;:1,&quot;color&quot;:{&quot;r&quot;:0.8823529481887817,&quot;g&quot;:0.843137264251709,&quot;b&quot;:0.8156862854957581}},{&quot;type&quot;:&quot;SOLID&quot;,&quot;fillIndex&quot;:0,&quot;sourceNodeId&quot;:&quot;14:324&quot;,&quot;sourceNodeName&quot;:&quot;Ellipse 7&quot;,&quot;sourceNodeType&quot;:&quot;ELLIPSE&quot;,&quot;blendMode&quot;:&quot;NORMAL&quot;,&quot;opacity&quot;:1,&quot;color&quot;:{&quot;r&quot;:0.0117647061124444,&quot;g&quot;:0.1921568661928177,&quot;b&quot;:0.2705882489681244}},{&quot;type&quot;:&quot;SOLID&quot;,&quot;fillIndex&quot;:0,&quot;sourceNodeId&quot;:&quot;14:325&quot;,&quot;sourceNodeName&quot;:&quot;Ellipse 6&quot;,&quot;sourceNodeType&quot;:&quot;ELLIPSE&quot;,&quot;blendMode&quot;:&quot;NORMAL&quot;,&quot;opacity&quot;:1,&quot;color&quot;:{&quot;r&quot;:0.8509804010391235,&quot;g&quot;:0.3019607961177826,&quot;b&quot;:0.1568627506494522}},{&quot;type&quot;:&quot;SOLID&quot;,&quot;fillIndex&quot;:0,&quot;sourceNodeId&quot;:&quot;14:326&quot;,&quot;sourceNodeName&quot;:&quot;Thank You&quot;,&quot;sourceNodeType&quot;:&quot;TEXT&quot;,&quot;blendMode&quot;:&quot;NORMAL&quot;,&quot;opacity&quot;:1,&quot;color&quot;:{&quot;r&quot;:0.0117647061124444,&quot;g&quot;:0.1921568661928177,&quot;b&quot;:0.2705882489681244}}]}"/>
  <item slide="10" elementIndex="1" elementId="3" sourceNodeId="14:324" x="0.42875874837239586" y="0.21064899585865163" width="0.5712412516276042" height="0.7893510041413484" visualJson="{&quot;version&quot;:1,&quot;sourceNodeId&quot;:&quot;14:324&quot;,&quot;nodeName&quot;:&quot;Ellipse 7&quot;,&quot;nodeType&quot;:&quot;ELLIPSE&quot;,&quot;renderStrategy&quot;:&quot;flattened-blend&quot;,&quot;reason&quot;:[&quot;effects&quot;],&quot;rendered&quot;:{&quot;mimeType&quot;:&quot;image/png&quot;,&quot;strategy&quot;:&quot;regularNodeExport&quot;,&quot;path&quot;:&quot;ppt/media/image-11-2.png&quot;},&quot;sources&quot;:[{&quot;type&quot;:&quot;SOLID&quot;,&quot;fillIndex&quot;:0,&quot;sourceNodeId&quot;:&quot;14:324&quot;,&quot;sourceNodeName&quot;:&quot;Ellipse 7&quot;,&quot;sourceNodeType&quot;:&quot;ELLIPSE&quot;,&quot;blendMode&quot;:&quot;NORMAL&quot;,&quot;opacity&quot;:1,&quot;color&quot;:{&quot;r&quot;:0.0117647061124444,&quot;g&quot;:0.1921568661928177,&quot;b&quot;:0.2705882489681244}}]}"/>
  <item slide="10" elementIndex="2" elementId="4" sourceNodeId="14:325" x="0" y="0" width="0.6970367431640625" height="1" visualJson="{&quot;version&quot;:1,&quot;sourceNodeId&quot;:&quot;14:325&quot;,&quot;nodeName&quot;:&quot;Ellipse 6&quot;,&quot;nodeType&quot;:&quot;ELLIPSE&quot;,&quot;renderStrategy&quot;:&quot;flattened-blend&quot;,&quot;reason&quot;:[&quot;effects&quot;],&quot;rendered&quot;:{&quot;mimeType&quot;:&quot;image/png&quot;,&quot;strategy&quot;:&quot;regularNodeExport&quot;,&quot;path&quot;:&quot;ppt/media/image-11-3.png&quot;},&quot;sources&quot;:[{&quot;type&quot;:&quot;SOLID&quot;,&quot;fillIndex&quot;:0,&quot;sourceNodeId&quot;:&quot;14:325&quot;,&quot;sourceNodeName&quot;:&quot;Ellipse 6&quot;,&quot;sourceNodeType&quot;:&quot;ELLIPSE&quot;,&quot;blendMode&quot;:&quot;NORMAL&quot;,&quot;opacity&quot;:1,&quot;color&quot;:{&quot;r&quot;:0.8509804010391235,&quot;g&quot;:0.3019607961177826,&quot;b&quot;:0.1568627506494522}}]}"/>
</featFlattenedVisualMap>
</file>

<file path=feat-data/motion.xml><?xml version="1.0" encoding="utf-8"?>
<featMotionMap/>
</file>

<file path=feat-data/psNames.xml><?xml version="1.0" encoding="utf-8"?>
<psNames>
  <font family="Inter" baseFamily="Inter" style="Regular" baseStyle="Regular" psName="Inter-Regular"/>
  <font family="Inter" baseFamily="Inter" style="Medium" baseStyle="Medium" psName="Inter-Regular"/>
  <font family="Inter" baseFamily="Inter" style="Bold" baseStyle="Bold" psName="Inter-Regular"/>
</psNames>
</file>